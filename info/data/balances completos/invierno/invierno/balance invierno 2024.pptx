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8" r:id="rId5"/>
    <p:sldId id="260" r:id="rId6"/>
    <p:sldId id="269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5" d="100"/>
          <a:sy n="95" d="100"/>
        </p:scale>
        <p:origin x="-666" y="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uario\Desktop\INV%2024\CARGA\Base%20TOTAL%20inv24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uario\Desktop\INV%2024\CARGA\Base%20TOTAL%20inv24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uario\Desktop\INV%2024\CARGA\Base%20TOTAL%20inv24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2.bin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3.bin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uario\Desktop\INV%2024\CARGA\Base%20TOTAL%20inv24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4.bin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uario\Desktop\INV%2024\CARGA\Base%20TOTAL%20inv2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'[Base TOTAL inv24.xlsx]Hoja1'!$AC$11</c:f>
              <c:strCache>
                <c:ptCount val="1"/>
                <c:pt idx="0">
                  <c:v>PROCEDENCIA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'[Base TOTAL inv24.xlsx]Hoja1'!$AB$12:$AB$31</c:f>
              <c:strCache>
                <c:ptCount val="20"/>
                <c:pt idx="0">
                  <c:v>BS AS</c:v>
                </c:pt>
                <c:pt idx="1">
                  <c:v>TUCUMAN</c:v>
                </c:pt>
                <c:pt idx="2">
                  <c:v>SANTA FE</c:v>
                </c:pt>
                <c:pt idx="3">
                  <c:v>CORDOBA</c:v>
                </c:pt>
                <c:pt idx="4">
                  <c:v>MENDOZA</c:v>
                </c:pt>
                <c:pt idx="5">
                  <c:v>CHACO</c:v>
                </c:pt>
                <c:pt idx="6">
                  <c:v>SALTA</c:v>
                </c:pt>
                <c:pt idx="7">
                  <c:v>SANTIAGO DEL ESTERO</c:v>
                </c:pt>
                <c:pt idx="8">
                  <c:v>LA PAMPA</c:v>
                </c:pt>
                <c:pt idx="9">
                  <c:v>LA RIOJA</c:v>
                </c:pt>
                <c:pt idx="10">
                  <c:v>ENTRE RIOS</c:v>
                </c:pt>
                <c:pt idx="11">
                  <c:v>CATAMARCA</c:v>
                </c:pt>
                <c:pt idx="12">
                  <c:v>JUJUY</c:v>
                </c:pt>
                <c:pt idx="13">
                  <c:v>MISIONES</c:v>
                </c:pt>
                <c:pt idx="14">
                  <c:v>SAN LUIS</c:v>
                </c:pt>
                <c:pt idx="15">
                  <c:v>CORRIENTES </c:v>
                </c:pt>
                <c:pt idx="16">
                  <c:v>SAN JUAN</c:v>
                </c:pt>
                <c:pt idx="17">
                  <c:v>RIO NEGRO</c:v>
                </c:pt>
                <c:pt idx="18">
                  <c:v>RESTO DEL PAIS</c:v>
                </c:pt>
                <c:pt idx="19">
                  <c:v>EXTRANJEROS</c:v>
                </c:pt>
              </c:strCache>
            </c:strRef>
          </c:cat>
          <c:val>
            <c:numRef>
              <c:f>'[Base TOTAL inv24.xlsx]Hoja1'!$AC$12:$AC$31</c:f>
              <c:numCache>
                <c:formatCode>0%</c:formatCode>
                <c:ptCount val="20"/>
                <c:pt idx="0">
                  <c:v>0.30589543937708563</c:v>
                </c:pt>
                <c:pt idx="1">
                  <c:v>0.12235817575083426</c:v>
                </c:pt>
                <c:pt idx="2">
                  <c:v>0.10901001112347053</c:v>
                </c:pt>
                <c:pt idx="3">
                  <c:v>8.6763070077864296E-2</c:v>
                </c:pt>
                <c:pt idx="4">
                  <c:v>5.2280311457174641E-2</c:v>
                </c:pt>
                <c:pt idx="5">
                  <c:v>4.2269187986651836E-2</c:v>
                </c:pt>
                <c:pt idx="6">
                  <c:v>3.3370411568409343E-2</c:v>
                </c:pt>
                <c:pt idx="7">
                  <c:v>2.8921023359288096E-2</c:v>
                </c:pt>
                <c:pt idx="8">
                  <c:v>2.5583982202447165E-2</c:v>
                </c:pt>
                <c:pt idx="9">
                  <c:v>2.5583982202447165E-2</c:v>
                </c:pt>
                <c:pt idx="10">
                  <c:v>2.3359288097886542E-2</c:v>
                </c:pt>
                <c:pt idx="11">
                  <c:v>2.1134593993325918E-2</c:v>
                </c:pt>
                <c:pt idx="12">
                  <c:v>1.557285873192436E-2</c:v>
                </c:pt>
                <c:pt idx="13">
                  <c:v>1.557285873192436E-2</c:v>
                </c:pt>
                <c:pt idx="14">
                  <c:v>1.4460511679644048E-2</c:v>
                </c:pt>
                <c:pt idx="15">
                  <c:v>1.3348164627363738E-2</c:v>
                </c:pt>
                <c:pt idx="16">
                  <c:v>1.3348164627363738E-2</c:v>
                </c:pt>
                <c:pt idx="17">
                  <c:v>1.0011123470522803E-2</c:v>
                </c:pt>
                <c:pt idx="18">
                  <c:v>2.8899999999999999E-2</c:v>
                </c:pt>
                <c:pt idx="19">
                  <c:v>1.2E-2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67437824"/>
        <c:axId val="167444864"/>
      </c:barChart>
      <c:catAx>
        <c:axId val="167437824"/>
        <c:scaling>
          <c:orientation val="minMax"/>
        </c:scaling>
        <c:delete val="0"/>
        <c:axPos val="b"/>
        <c:majorTickMark val="none"/>
        <c:minorTickMark val="none"/>
        <c:tickLblPos val="nextTo"/>
        <c:crossAx val="167444864"/>
        <c:crosses val="autoZero"/>
        <c:auto val="1"/>
        <c:lblAlgn val="ctr"/>
        <c:lblOffset val="100"/>
        <c:noMultiLvlLbl val="0"/>
      </c:catAx>
      <c:valAx>
        <c:axId val="16744486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crossAx val="16743782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'[Base TOTAL inv24.xlsx]Hoja1'!$J$87</c:f>
              <c:strCache>
                <c:ptCount val="1"/>
                <c:pt idx="0">
                  <c:v>Ocio/Descanso /Vacaciones</c:v>
                </c:pt>
              </c:strCache>
            </c:strRef>
          </c:tx>
          <c:invertIfNegative val="0"/>
          <c:cat>
            <c:strRef>
              <c:f>'[Base TOTAL inv24.xlsx]Hoja1'!$K$86:$N$86</c:f>
              <c:strCache>
                <c:ptCount val="4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inv24.xlsx]Hoja1'!$K$87:$N$87</c:f>
              <c:numCache>
                <c:formatCode>0%</c:formatCode>
                <c:ptCount val="4"/>
                <c:pt idx="0">
                  <c:v>0.86353944562899787</c:v>
                </c:pt>
                <c:pt idx="1">
                  <c:v>0.79012345679012341</c:v>
                </c:pt>
                <c:pt idx="2">
                  <c:v>0.72892938496583148</c:v>
                </c:pt>
                <c:pt idx="3">
                  <c:v>0.63822525597269619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inv24.xlsx]Hoja1'!$J$88</c:f>
              <c:strCache>
                <c:ptCount val="1"/>
                <c:pt idx="0">
                  <c:v> Visita a familiares o amigos</c:v>
                </c:pt>
              </c:strCache>
            </c:strRef>
          </c:tx>
          <c:invertIfNegative val="0"/>
          <c:cat>
            <c:strRef>
              <c:f>'[Base TOTAL inv24.xlsx]Hoja1'!$K$86:$N$86</c:f>
              <c:strCache>
                <c:ptCount val="4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inv24.xlsx]Hoja1'!$K$88:$N$88</c:f>
              <c:numCache>
                <c:formatCode>0%</c:formatCode>
                <c:ptCount val="4"/>
                <c:pt idx="0">
                  <c:v>6.6098081023454158E-2</c:v>
                </c:pt>
                <c:pt idx="1">
                  <c:v>1.9753086419753086E-2</c:v>
                </c:pt>
                <c:pt idx="2">
                  <c:v>0.15034168564920272</c:v>
                </c:pt>
                <c:pt idx="3">
                  <c:v>0.15017064846416384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inv24.xlsx]Hoja1'!$J$89</c:f>
              <c:strCache>
                <c:ptCount val="1"/>
                <c:pt idx="0">
                  <c:v>Paisajes/Naturaleza</c:v>
                </c:pt>
              </c:strCache>
            </c:strRef>
          </c:tx>
          <c:invertIfNegative val="0"/>
          <c:cat>
            <c:strRef>
              <c:f>'[Base TOTAL inv24.xlsx]Hoja1'!$K$86:$N$86</c:f>
              <c:strCache>
                <c:ptCount val="4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inv24.xlsx]Hoja1'!$K$89:$N$89</c:f>
              <c:numCache>
                <c:formatCode>0%</c:formatCode>
                <c:ptCount val="4"/>
                <c:pt idx="0">
                  <c:v>4.2643923240938165E-3</c:v>
                </c:pt>
                <c:pt idx="1">
                  <c:v>0.16296296296296298</c:v>
                </c:pt>
                <c:pt idx="2">
                  <c:v>6.8337129840546698E-2</c:v>
                </c:pt>
                <c:pt idx="3">
                  <c:v>0.16040955631399317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inv24.xlsx]Hoja1'!$J$90</c:f>
              <c:strCache>
                <c:ptCount val="1"/>
                <c:pt idx="0">
                  <c:v>Negocio/Trabajo</c:v>
                </c:pt>
              </c:strCache>
            </c:strRef>
          </c:tx>
          <c:invertIfNegative val="0"/>
          <c:cat>
            <c:strRef>
              <c:f>'[Base TOTAL inv24.xlsx]Hoja1'!$K$86:$N$86</c:f>
              <c:strCache>
                <c:ptCount val="4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inv24.xlsx]Hoja1'!$K$90:$N$90</c:f>
              <c:numCache>
                <c:formatCode>0%</c:formatCode>
                <c:ptCount val="4"/>
                <c:pt idx="0">
                  <c:v>3.6247334754797439E-2</c:v>
                </c:pt>
                <c:pt idx="1">
                  <c:v>2.2222222222222223E-2</c:v>
                </c:pt>
                <c:pt idx="2">
                  <c:v>0</c:v>
                </c:pt>
                <c:pt idx="3">
                  <c:v>2.0477815699658702E-2</c:v>
                </c:pt>
              </c:numCache>
            </c:numRef>
          </c:val>
        </c:ser>
        <c:ser>
          <c:idx val="4"/>
          <c:order val="4"/>
          <c:tx>
            <c:strRef>
              <c:f>'[Base TOTAL inv24.xlsx]Hoja1'!$J$91</c:f>
              <c:strCache>
                <c:ptCount val="1"/>
                <c:pt idx="0">
                  <c:v>Otros</c:v>
                </c:pt>
              </c:strCache>
            </c:strRef>
          </c:tx>
          <c:invertIfNegative val="0"/>
          <c:cat>
            <c:strRef>
              <c:f>'[Base TOTAL inv24.xlsx]Hoja1'!$K$86:$N$86</c:f>
              <c:strCache>
                <c:ptCount val="4"/>
                <c:pt idx="0">
                  <c:v>SMT</c:v>
                </c:pt>
                <c:pt idx="1">
                  <c:v>TAFI</c:v>
                </c:pt>
                <c:pt idx="2">
                  <c:v>SPC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inv24.xlsx]Hoja1'!$K$91:$N$91</c:f>
              <c:numCache>
                <c:formatCode>0%</c:formatCode>
                <c:ptCount val="4"/>
                <c:pt idx="0">
                  <c:v>2.9850746268656712E-2</c:v>
                </c:pt>
                <c:pt idx="1">
                  <c:v>4.9382716049382715E-3</c:v>
                </c:pt>
                <c:pt idx="2">
                  <c:v>5.2391799544419131E-2</c:v>
                </c:pt>
                <c:pt idx="3">
                  <c:v>3.0716723549488054E-2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overlap val="100"/>
        <c:axId val="39754368"/>
        <c:axId val="154887296"/>
      </c:barChart>
      <c:catAx>
        <c:axId val="39754368"/>
        <c:scaling>
          <c:orientation val="minMax"/>
        </c:scaling>
        <c:delete val="0"/>
        <c:axPos val="b"/>
        <c:majorTickMark val="none"/>
        <c:minorTickMark val="none"/>
        <c:tickLblPos val="nextTo"/>
        <c:crossAx val="154887296"/>
        <c:crosses val="autoZero"/>
        <c:auto val="1"/>
        <c:lblAlgn val="ctr"/>
        <c:lblOffset val="100"/>
        <c:noMultiLvlLbl val="0"/>
      </c:catAx>
      <c:valAx>
        <c:axId val="154887296"/>
        <c:scaling>
          <c:orientation val="minMax"/>
        </c:scaling>
        <c:delete val="0"/>
        <c:axPos val="l"/>
        <c:majorGridlines/>
        <c:numFmt formatCode="0%" sourceLinked="1"/>
        <c:majorTickMark val="none"/>
        <c:minorTickMark val="none"/>
        <c:tickLblPos val="nextTo"/>
        <c:crossAx val="39754368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txPr>
    <a:bodyPr/>
    <a:lstStyle/>
    <a:p>
      <a:pPr>
        <a:defRPr sz="1000"/>
      </a:pPr>
      <a:endParaRPr lang="es-A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'[Base TOTAL inv24.xlsx]Hoja1'!$K$118</c:f>
              <c:strCache>
                <c:ptCount val="1"/>
                <c:pt idx="0">
                  <c:v>SMT</c:v>
                </c:pt>
              </c:strCache>
            </c:strRef>
          </c:tx>
          <c:invertIfNegative val="0"/>
          <c:cat>
            <c:strRef>
              <c:f>'[Base TOTAL inv24.xlsx]Hoja1'!$J$119:$J$123</c:f>
              <c:strCache>
                <c:ptCount val="5"/>
                <c:pt idx="0">
                  <c:v>Pareja/Novio</c:v>
                </c:pt>
                <c:pt idx="1">
                  <c:v>Familia</c:v>
                </c:pt>
                <c:pt idx="2">
                  <c:v>Amigos</c:v>
                </c:pt>
                <c:pt idx="3">
                  <c:v>Colegas</c:v>
                </c:pt>
                <c:pt idx="4">
                  <c:v>Solo</c:v>
                </c:pt>
              </c:strCache>
            </c:strRef>
          </c:cat>
          <c:val>
            <c:numRef>
              <c:f>'[Base TOTAL inv24.xlsx]Hoja1'!$K$119:$K$123</c:f>
              <c:numCache>
                <c:formatCode>0%</c:formatCode>
                <c:ptCount val="5"/>
                <c:pt idx="0">
                  <c:v>0.16938775510204082</c:v>
                </c:pt>
                <c:pt idx="1">
                  <c:v>0.6</c:v>
                </c:pt>
                <c:pt idx="2">
                  <c:v>0.15510204081632653</c:v>
                </c:pt>
                <c:pt idx="3">
                  <c:v>1.6326530612244899E-2</c:v>
                </c:pt>
                <c:pt idx="4">
                  <c:v>5.9183673469387757E-2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inv24.xlsx]Hoja1'!$L$118</c:f>
              <c:strCache>
                <c:ptCount val="1"/>
                <c:pt idx="0">
                  <c:v>TAFI DEL VALLE</c:v>
                </c:pt>
              </c:strCache>
            </c:strRef>
          </c:tx>
          <c:invertIfNegative val="0"/>
          <c:cat>
            <c:strRef>
              <c:f>'[Base TOTAL inv24.xlsx]Hoja1'!$J$119:$J$123</c:f>
              <c:strCache>
                <c:ptCount val="5"/>
                <c:pt idx="0">
                  <c:v>Pareja/Novio</c:v>
                </c:pt>
                <c:pt idx="1">
                  <c:v>Familia</c:v>
                </c:pt>
                <c:pt idx="2">
                  <c:v>Amigos</c:v>
                </c:pt>
                <c:pt idx="3">
                  <c:v>Colegas</c:v>
                </c:pt>
                <c:pt idx="4">
                  <c:v>Solo</c:v>
                </c:pt>
              </c:strCache>
            </c:strRef>
          </c:cat>
          <c:val>
            <c:numRef>
              <c:f>'[Base TOTAL inv24.xlsx]Hoja1'!$L$119:$L$123</c:f>
              <c:numCache>
                <c:formatCode>0%</c:formatCode>
                <c:ptCount val="5"/>
                <c:pt idx="0">
                  <c:v>0.20776255707762556</c:v>
                </c:pt>
                <c:pt idx="1">
                  <c:v>0.58904109589041098</c:v>
                </c:pt>
                <c:pt idx="2">
                  <c:v>0.17123287671232876</c:v>
                </c:pt>
                <c:pt idx="3">
                  <c:v>4.5662100456621002E-3</c:v>
                </c:pt>
                <c:pt idx="4">
                  <c:v>2.7397260273972601E-2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inv24.xlsx]Hoja1'!$M$118</c:f>
              <c:strCache>
                <c:ptCount val="1"/>
                <c:pt idx="0">
                  <c:v>SAN PEDRO DE COLALAO</c:v>
                </c:pt>
              </c:strCache>
            </c:strRef>
          </c:tx>
          <c:invertIfNegative val="0"/>
          <c:cat>
            <c:strRef>
              <c:f>'[Base TOTAL inv24.xlsx]Hoja1'!$J$119:$J$123</c:f>
              <c:strCache>
                <c:ptCount val="5"/>
                <c:pt idx="0">
                  <c:v>Pareja/Novio</c:v>
                </c:pt>
                <c:pt idx="1">
                  <c:v>Familia</c:v>
                </c:pt>
                <c:pt idx="2">
                  <c:v>Amigos</c:v>
                </c:pt>
                <c:pt idx="3">
                  <c:v>Colegas</c:v>
                </c:pt>
                <c:pt idx="4">
                  <c:v>Solo</c:v>
                </c:pt>
              </c:strCache>
            </c:strRef>
          </c:cat>
          <c:val>
            <c:numRef>
              <c:f>'[Base TOTAL inv24.xlsx]Hoja1'!$M$119:$M$123</c:f>
              <c:numCache>
                <c:formatCode>0%</c:formatCode>
                <c:ptCount val="5"/>
                <c:pt idx="0">
                  <c:v>0.16557734204793029</c:v>
                </c:pt>
                <c:pt idx="1">
                  <c:v>0.51851851851851849</c:v>
                </c:pt>
                <c:pt idx="2">
                  <c:v>0.19607843137254902</c:v>
                </c:pt>
                <c:pt idx="3">
                  <c:v>2.3965141612200435E-2</c:v>
                </c:pt>
                <c:pt idx="4">
                  <c:v>9.586056644880174E-2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inv24.xlsx]Hoja1'!$N$118</c:f>
              <c:strCache>
                <c:ptCount val="1"/>
                <c:pt idx="0">
                  <c:v>SAN JAVIER</c:v>
                </c:pt>
              </c:strCache>
            </c:strRef>
          </c:tx>
          <c:invertIfNegative val="0"/>
          <c:cat>
            <c:strRef>
              <c:f>'[Base TOTAL inv24.xlsx]Hoja1'!$J$119:$J$123</c:f>
              <c:strCache>
                <c:ptCount val="5"/>
                <c:pt idx="0">
                  <c:v>Pareja/Novio</c:v>
                </c:pt>
                <c:pt idx="1">
                  <c:v>Familia</c:v>
                </c:pt>
                <c:pt idx="2">
                  <c:v>Amigos</c:v>
                </c:pt>
                <c:pt idx="3">
                  <c:v>Colegas</c:v>
                </c:pt>
                <c:pt idx="4">
                  <c:v>Solo</c:v>
                </c:pt>
              </c:strCache>
            </c:strRef>
          </c:cat>
          <c:val>
            <c:numRef>
              <c:f>'[Base TOTAL inv24.xlsx]Hoja1'!$N$119:$N$123</c:f>
              <c:numCache>
                <c:formatCode>0%</c:formatCode>
                <c:ptCount val="5"/>
                <c:pt idx="0">
                  <c:v>0.20261437908496732</c:v>
                </c:pt>
                <c:pt idx="1">
                  <c:v>0.62091503267973858</c:v>
                </c:pt>
                <c:pt idx="2">
                  <c:v>0.13071895424836602</c:v>
                </c:pt>
                <c:pt idx="3">
                  <c:v>6.5359477124183009E-3</c:v>
                </c:pt>
                <c:pt idx="4">
                  <c:v>3.9215686274509803E-2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5040384"/>
        <c:axId val="157757824"/>
        <c:axId val="0"/>
      </c:bar3DChart>
      <c:catAx>
        <c:axId val="155040384"/>
        <c:scaling>
          <c:orientation val="minMax"/>
        </c:scaling>
        <c:delete val="0"/>
        <c:axPos val="b"/>
        <c:majorTickMark val="none"/>
        <c:minorTickMark val="none"/>
        <c:tickLblPos val="nextTo"/>
        <c:crossAx val="157757824"/>
        <c:crosses val="autoZero"/>
        <c:auto val="1"/>
        <c:lblAlgn val="ctr"/>
        <c:lblOffset val="100"/>
        <c:noMultiLvlLbl val="0"/>
      </c:catAx>
      <c:valAx>
        <c:axId val="157757824"/>
        <c:scaling>
          <c:orientation val="minMax"/>
        </c:scaling>
        <c:delete val="0"/>
        <c:axPos val="l"/>
        <c:majorGridlines/>
        <c:numFmt formatCode="0%" sourceLinked="1"/>
        <c:majorTickMark val="none"/>
        <c:minorTickMark val="none"/>
        <c:tickLblPos val="nextTo"/>
        <c:crossAx val="155040384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'[Base TOTAL inv24.xlsx]Hoja1'!$J$139</c:f>
              <c:strCache>
                <c:ptCount val="1"/>
                <c:pt idx="0">
                  <c:v>menos de 20</c:v>
                </c:pt>
              </c:strCache>
            </c:strRef>
          </c:tx>
          <c:invertIfNegative val="0"/>
          <c:cat>
            <c:strRef>
              <c:f>'[Base TOTAL inv24.xlsx]Hoja1'!$K$138:$N$138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inv24.xlsx]Hoja1'!$K$139:$N$139</c:f>
              <c:numCache>
                <c:formatCode>0%</c:formatCode>
                <c:ptCount val="4"/>
                <c:pt idx="0">
                  <c:v>0.28125</c:v>
                </c:pt>
                <c:pt idx="1">
                  <c:v>0.27724137931034482</c:v>
                </c:pt>
                <c:pt idx="2">
                  <c:v>0.29499999999999998</c:v>
                </c:pt>
                <c:pt idx="3">
                  <c:v>0.28469520103761348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inv24.xlsx]Hoja1'!$J$140</c:f>
              <c:strCache>
                <c:ptCount val="1"/>
                <c:pt idx="0">
                  <c:v>entre 20 y 40 años</c:v>
                </c:pt>
              </c:strCache>
            </c:strRef>
          </c:tx>
          <c:invertIfNegative val="0"/>
          <c:cat>
            <c:strRef>
              <c:f>'[Base TOTAL inv24.xlsx]Hoja1'!$K$138:$N$138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inv24.xlsx]Hoja1'!$K$140:$N$140</c:f>
              <c:numCache>
                <c:formatCode>0%</c:formatCode>
                <c:ptCount val="4"/>
                <c:pt idx="0">
                  <c:v>0.25156250000000002</c:v>
                </c:pt>
                <c:pt idx="1">
                  <c:v>0.34413793103448276</c:v>
                </c:pt>
                <c:pt idx="2">
                  <c:v>0.35</c:v>
                </c:pt>
                <c:pt idx="3">
                  <c:v>0.32555123216601817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inv24.xlsx]Hoja1'!$J$141</c:f>
              <c:strCache>
                <c:ptCount val="1"/>
                <c:pt idx="0">
                  <c:v>entre 40 y 60 años</c:v>
                </c:pt>
              </c:strCache>
            </c:strRef>
          </c:tx>
          <c:invertIfNegative val="0"/>
          <c:cat>
            <c:strRef>
              <c:f>'[Base TOTAL inv24.xlsx]Hoja1'!$K$138:$N$138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inv24.xlsx]Hoja1'!$K$141:$N$141</c:f>
              <c:numCache>
                <c:formatCode>0%</c:formatCode>
                <c:ptCount val="4"/>
                <c:pt idx="0">
                  <c:v>0.34531250000000002</c:v>
                </c:pt>
                <c:pt idx="1">
                  <c:v>0.30482758620689654</c:v>
                </c:pt>
                <c:pt idx="2">
                  <c:v>0.26750000000000002</c:v>
                </c:pt>
                <c:pt idx="3">
                  <c:v>0.28793774319066145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inv24.xlsx]Hoja1'!$J$142</c:f>
              <c:strCache>
                <c:ptCount val="1"/>
                <c:pt idx="0">
                  <c:v>mas de 60 años</c:v>
                </c:pt>
              </c:strCache>
            </c:strRef>
          </c:tx>
          <c:invertIfNegative val="0"/>
          <c:cat>
            <c:strRef>
              <c:f>'[Base TOTAL inv24.xlsx]Hoja1'!$K$138:$N$138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inv24.xlsx]Hoja1'!$K$142:$N$142</c:f>
              <c:numCache>
                <c:formatCode>0%</c:formatCode>
                <c:ptCount val="4"/>
                <c:pt idx="0">
                  <c:v>0.121875</c:v>
                </c:pt>
                <c:pt idx="1">
                  <c:v>7.379310344827586E-2</c:v>
                </c:pt>
                <c:pt idx="2">
                  <c:v>8.7499999999999994E-2</c:v>
                </c:pt>
                <c:pt idx="3">
                  <c:v>0.10181582360570687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58051712"/>
        <c:axId val="158508160"/>
      </c:barChart>
      <c:catAx>
        <c:axId val="158051712"/>
        <c:scaling>
          <c:orientation val="minMax"/>
        </c:scaling>
        <c:delete val="0"/>
        <c:axPos val="b"/>
        <c:majorTickMark val="none"/>
        <c:minorTickMark val="none"/>
        <c:tickLblPos val="nextTo"/>
        <c:crossAx val="158508160"/>
        <c:crosses val="autoZero"/>
        <c:auto val="1"/>
        <c:lblAlgn val="ctr"/>
        <c:lblOffset val="100"/>
        <c:noMultiLvlLbl val="0"/>
      </c:catAx>
      <c:valAx>
        <c:axId val="15850816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58051712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es-A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'[Base TOTAL inv24.xlsx]Hoja1'!$J$158</c:f>
              <c:strCache>
                <c:ptCount val="1"/>
                <c:pt idx="0">
                  <c:v>No planificó/ mismo día</c:v>
                </c:pt>
              </c:strCache>
            </c:strRef>
          </c:tx>
          <c:invertIfNegative val="0"/>
          <c:cat>
            <c:strRef>
              <c:f>'[Base TOTAL inv24.xlsx]Hoja1'!$K$157:$N$157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inv24.xlsx]Hoja1'!$K$158:$N$158</c:f>
              <c:numCache>
                <c:formatCode>0%</c:formatCode>
                <c:ptCount val="4"/>
                <c:pt idx="0">
                  <c:v>0.17484008528784648</c:v>
                </c:pt>
                <c:pt idx="1">
                  <c:v>0.17067307692307693</c:v>
                </c:pt>
                <c:pt idx="2">
                  <c:v>0.36363636363636365</c:v>
                </c:pt>
                <c:pt idx="3">
                  <c:v>0.31525423728813562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inv24.xlsx]Hoja1'!$J$159</c:f>
              <c:strCache>
                <c:ptCount val="1"/>
                <c:pt idx="0">
                  <c:v>Menos de una semana</c:v>
                </c:pt>
              </c:strCache>
            </c:strRef>
          </c:tx>
          <c:invertIfNegative val="0"/>
          <c:cat>
            <c:strRef>
              <c:f>'[Base TOTAL inv24.xlsx]Hoja1'!$K$157:$N$157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inv24.xlsx]Hoja1'!$K$159:$N$159</c:f>
              <c:numCache>
                <c:formatCode>0%</c:formatCode>
                <c:ptCount val="4"/>
                <c:pt idx="0">
                  <c:v>0.14712153518123666</c:v>
                </c:pt>
                <c:pt idx="1">
                  <c:v>0.21394230769230768</c:v>
                </c:pt>
                <c:pt idx="2">
                  <c:v>0.35681818181818181</c:v>
                </c:pt>
                <c:pt idx="3">
                  <c:v>0.2711864406779661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inv24.xlsx]Hoja1'!$J$160</c:f>
              <c:strCache>
                <c:ptCount val="1"/>
                <c:pt idx="0">
                  <c:v>Entre una semana y un mes</c:v>
                </c:pt>
              </c:strCache>
            </c:strRef>
          </c:tx>
          <c:invertIfNegative val="0"/>
          <c:cat>
            <c:strRef>
              <c:f>'[Base TOTAL inv24.xlsx]Hoja1'!$K$157:$N$157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inv24.xlsx]Hoja1'!$K$160:$N$160</c:f>
              <c:numCache>
                <c:formatCode>0%</c:formatCode>
                <c:ptCount val="4"/>
                <c:pt idx="0">
                  <c:v>0.39658848614072495</c:v>
                </c:pt>
                <c:pt idx="1">
                  <c:v>0.42307692307692307</c:v>
                </c:pt>
                <c:pt idx="2">
                  <c:v>0.17045454545454544</c:v>
                </c:pt>
                <c:pt idx="3">
                  <c:v>0.20677966101694914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inv24.xlsx]Hoja1'!$J$161</c:f>
              <c:strCache>
                <c:ptCount val="1"/>
                <c:pt idx="0">
                  <c:v>Más de un mes y hasta 6</c:v>
                </c:pt>
              </c:strCache>
            </c:strRef>
          </c:tx>
          <c:invertIfNegative val="0"/>
          <c:cat>
            <c:strRef>
              <c:f>'[Base TOTAL inv24.xlsx]Hoja1'!$K$157:$N$157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inv24.xlsx]Hoja1'!$K$161:$N$161</c:f>
              <c:numCache>
                <c:formatCode>0%</c:formatCode>
                <c:ptCount val="4"/>
                <c:pt idx="0">
                  <c:v>0.22601279317697229</c:v>
                </c:pt>
                <c:pt idx="1">
                  <c:v>0.1875</c:v>
                </c:pt>
                <c:pt idx="2">
                  <c:v>8.6363636363636365E-2</c:v>
                </c:pt>
                <c:pt idx="3">
                  <c:v>0.13559322033898305</c:v>
                </c:pt>
              </c:numCache>
            </c:numRef>
          </c:val>
        </c:ser>
        <c:ser>
          <c:idx val="4"/>
          <c:order val="4"/>
          <c:tx>
            <c:strRef>
              <c:f>'[Base TOTAL inv24.xlsx]Hoja1'!$J$162</c:f>
              <c:strCache>
                <c:ptCount val="1"/>
                <c:pt idx="0">
                  <c:v>Más de 6 meses</c:v>
                </c:pt>
              </c:strCache>
            </c:strRef>
          </c:tx>
          <c:invertIfNegative val="0"/>
          <c:cat>
            <c:strRef>
              <c:f>'[Base TOTAL inv24.xlsx]Hoja1'!$K$157:$N$157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inv24.xlsx]Hoja1'!$K$162:$N$162</c:f>
              <c:numCache>
                <c:formatCode>0%</c:formatCode>
                <c:ptCount val="4"/>
                <c:pt idx="0">
                  <c:v>5.5437100213219619E-2</c:v>
                </c:pt>
                <c:pt idx="1">
                  <c:v>4.807692307692308E-3</c:v>
                </c:pt>
                <c:pt idx="2">
                  <c:v>2.2727272727272728E-2</c:v>
                </c:pt>
                <c:pt idx="3">
                  <c:v>7.1186440677966104E-2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67536896"/>
        <c:axId val="167546880"/>
      </c:barChart>
      <c:catAx>
        <c:axId val="16753689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s-AR"/>
          </a:p>
        </c:txPr>
        <c:crossAx val="167546880"/>
        <c:crosses val="autoZero"/>
        <c:auto val="1"/>
        <c:lblAlgn val="ctr"/>
        <c:lblOffset val="100"/>
        <c:noMultiLvlLbl val="0"/>
      </c:catAx>
      <c:valAx>
        <c:axId val="16754688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67536896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'[Base TOTAL inv24.xlsx]Hoja1'!$J$174</c:f>
              <c:strCache>
                <c:ptCount val="1"/>
                <c:pt idx="0">
                  <c:v>Prensa oral y escrita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inv24.xlsx]Hoja1'!$K$174:$N$174</c:f>
              <c:numCache>
                <c:formatCode>0%</c:formatCode>
                <c:ptCount val="4"/>
                <c:pt idx="0">
                  <c:v>3.2028469750889681E-2</c:v>
                </c:pt>
                <c:pt idx="1">
                  <c:v>5.2493438320209973E-3</c:v>
                </c:pt>
                <c:pt idx="2">
                  <c:v>1.8561484918793503E-2</c:v>
                </c:pt>
                <c:pt idx="3">
                  <c:v>3.4883720930232558E-2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inv24.xlsx]Hoja1'!$J$175</c:f>
              <c:strCache>
                <c:ptCount val="1"/>
                <c:pt idx="0">
                  <c:v>Agencia de turismo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inv24.xlsx]Hoja1'!$K$175:$N$175</c:f>
              <c:numCache>
                <c:formatCode>0%</c:formatCode>
                <c:ptCount val="4"/>
                <c:pt idx="0">
                  <c:v>0.12099644128113879</c:v>
                </c:pt>
                <c:pt idx="1">
                  <c:v>0.13910761154855644</c:v>
                </c:pt>
                <c:pt idx="2">
                  <c:v>2.0881670533642691E-2</c:v>
                </c:pt>
                <c:pt idx="3">
                  <c:v>4.0697674418604654E-2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inv24.xlsx]Hoja1'!$J$176</c:f>
              <c:strCache>
                <c:ptCount val="1"/>
                <c:pt idx="0">
                  <c:v>Ofi informes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inv24.xlsx]Hoja1'!$K$176:$N$176</c:f>
              <c:numCache>
                <c:formatCode>0%</c:formatCode>
                <c:ptCount val="4"/>
                <c:pt idx="0">
                  <c:v>2.1352313167259787E-2</c:v>
                </c:pt>
                <c:pt idx="1">
                  <c:v>0.17322834645669291</c:v>
                </c:pt>
                <c:pt idx="2">
                  <c:v>7.1925754060324823E-2</c:v>
                </c:pt>
                <c:pt idx="3">
                  <c:v>0.15697674418604651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inv24.xlsx]Hoja1'!$J$177</c:f>
              <c:strCache>
                <c:ptCount val="1"/>
                <c:pt idx="0">
                  <c:v>Flia/Amigos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inv24.xlsx]Hoja1'!$K$177:$N$177</c:f>
              <c:numCache>
                <c:formatCode>0%</c:formatCode>
                <c:ptCount val="4"/>
                <c:pt idx="0">
                  <c:v>0.11387900355871886</c:v>
                </c:pt>
                <c:pt idx="1">
                  <c:v>0.13648293963254593</c:v>
                </c:pt>
                <c:pt idx="2">
                  <c:v>0.26914153132250579</c:v>
                </c:pt>
                <c:pt idx="3">
                  <c:v>0.22093023255813954</c:v>
                </c:pt>
              </c:numCache>
            </c:numRef>
          </c:val>
        </c:ser>
        <c:ser>
          <c:idx val="4"/>
          <c:order val="4"/>
          <c:tx>
            <c:strRef>
              <c:f>'[Base TOTAL inv24.xlsx]Hoja1'!$J$178</c:f>
              <c:strCache>
                <c:ptCount val="1"/>
                <c:pt idx="0">
                  <c:v>Visitas previas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inv24.xlsx]Hoja1'!$K$178:$N$178</c:f>
              <c:numCache>
                <c:formatCode>0%</c:formatCode>
                <c:ptCount val="4"/>
                <c:pt idx="0">
                  <c:v>6.7615658362989328E-2</c:v>
                </c:pt>
                <c:pt idx="1">
                  <c:v>5.774278215223097E-2</c:v>
                </c:pt>
                <c:pt idx="2">
                  <c:v>0.23665893271461716</c:v>
                </c:pt>
                <c:pt idx="3">
                  <c:v>5.8139534883720929E-3</c:v>
                </c:pt>
              </c:numCache>
            </c:numRef>
          </c:val>
        </c:ser>
        <c:ser>
          <c:idx val="5"/>
          <c:order val="5"/>
          <c:tx>
            <c:strRef>
              <c:f>'[Base TOTAL inv24.xlsx]Hoja1'!$J$179</c:f>
              <c:strCache>
                <c:ptCount val="1"/>
                <c:pt idx="0">
                  <c:v>Otros medios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inv24.xlsx]Hoja1'!$K$179:$N$179</c:f>
              <c:numCache>
                <c:formatCode>0%</c:formatCode>
                <c:ptCount val="4"/>
                <c:pt idx="0">
                  <c:v>1.4234875444839857E-2</c:v>
                </c:pt>
                <c:pt idx="1">
                  <c:v>4.1994750656167978E-2</c:v>
                </c:pt>
                <c:pt idx="2">
                  <c:v>3.0162412993039442E-2</c:v>
                </c:pt>
                <c:pt idx="3">
                  <c:v>1.7441860465116279E-2</c:v>
                </c:pt>
              </c:numCache>
            </c:numRef>
          </c:val>
        </c:ser>
        <c:ser>
          <c:idx val="6"/>
          <c:order val="6"/>
          <c:tx>
            <c:strRef>
              <c:f>'[Base TOTAL inv24.xlsx]Hoja1'!$J$180</c:f>
              <c:strCache>
                <c:ptCount val="1"/>
                <c:pt idx="0">
                  <c:v>Páginas de internet</c:v>
                </c:pt>
              </c:strCache>
            </c:strRef>
          </c:tx>
          <c:invertIfNegative val="0"/>
          <c:cat>
            <c:strRef>
              <c:f>'[Base TOTAL inv24.xlsx]Hoja1'!$K$173:$N$173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inv24.xlsx]Hoja1'!$K$180:$N$180</c:f>
              <c:numCache>
                <c:formatCode>0%</c:formatCode>
                <c:ptCount val="4"/>
                <c:pt idx="0">
                  <c:v>0.62989323843416367</c:v>
                </c:pt>
                <c:pt idx="1">
                  <c:v>0.4461942257217848</c:v>
                </c:pt>
                <c:pt idx="2">
                  <c:v>0.35266821345707655</c:v>
                </c:pt>
                <c:pt idx="3">
                  <c:v>0.52325581395348841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6009856"/>
        <c:axId val="166466304"/>
      </c:barChart>
      <c:catAx>
        <c:axId val="16600985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/>
            </a:pPr>
            <a:endParaRPr lang="es-AR"/>
          </a:p>
        </c:txPr>
        <c:crossAx val="166466304"/>
        <c:crosses val="autoZero"/>
        <c:auto val="1"/>
        <c:lblAlgn val="ctr"/>
        <c:lblOffset val="100"/>
        <c:noMultiLvlLbl val="0"/>
      </c:catAx>
      <c:valAx>
        <c:axId val="1664663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6600985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s-A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'[Base TOTAL inv24.xlsx]Hoja1'!$J$202</c:f>
              <c:strCache>
                <c:ptCount val="1"/>
                <c:pt idx="0">
                  <c:v>Facebook</c:v>
                </c:pt>
              </c:strCache>
            </c:strRef>
          </c:tx>
          <c:invertIfNegative val="0"/>
          <c:cat>
            <c:strRef>
              <c:f>'[Base TOTAL inv24.xlsx]Hoja1'!$K$201:$N$201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inv24.xlsx]Hoja1'!$K$202:$N$202</c:f>
              <c:numCache>
                <c:formatCode>0%</c:formatCode>
                <c:ptCount val="4"/>
                <c:pt idx="0">
                  <c:v>3.9106145251396648E-2</c:v>
                </c:pt>
                <c:pt idx="1">
                  <c:v>0.19367588932806323</c:v>
                </c:pt>
                <c:pt idx="2">
                  <c:v>0.19123505976095617</c:v>
                </c:pt>
                <c:pt idx="3">
                  <c:v>0.14411027568922305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inv24.xlsx]Hoja1'!$J$203</c:f>
              <c:strCache>
                <c:ptCount val="1"/>
                <c:pt idx="0">
                  <c:v>Twitter</c:v>
                </c:pt>
              </c:strCache>
            </c:strRef>
          </c:tx>
          <c:invertIfNegative val="0"/>
          <c:cat>
            <c:strRef>
              <c:f>'[Base TOTAL inv24.xlsx]Hoja1'!$K$201:$N$201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inv24.xlsx]Hoja1'!$K$203:$N$203</c:f>
              <c:numCache>
                <c:formatCode>0%</c:formatCode>
                <c:ptCount val="4"/>
                <c:pt idx="0">
                  <c:v>5.5865921787709499E-3</c:v>
                </c:pt>
                <c:pt idx="1">
                  <c:v>6.3241106719367585E-2</c:v>
                </c:pt>
                <c:pt idx="2">
                  <c:v>7.9681274900398405E-3</c:v>
                </c:pt>
                <c:pt idx="3">
                  <c:v>2.3809523809523808E-2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inv24.xlsx]Hoja1'!$J$204</c:f>
              <c:strCache>
                <c:ptCount val="1"/>
                <c:pt idx="0">
                  <c:v>Instagram</c:v>
                </c:pt>
              </c:strCache>
            </c:strRef>
          </c:tx>
          <c:invertIfNegative val="0"/>
          <c:cat>
            <c:strRef>
              <c:f>'[Base TOTAL inv24.xlsx]Hoja1'!$K$201:$N$201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inv24.xlsx]Hoja1'!$K$204:$N$204</c:f>
              <c:numCache>
                <c:formatCode>0%</c:formatCode>
                <c:ptCount val="4"/>
                <c:pt idx="0">
                  <c:v>0.17318435754189945</c:v>
                </c:pt>
                <c:pt idx="1">
                  <c:v>0.13833992094861661</c:v>
                </c:pt>
                <c:pt idx="2">
                  <c:v>0.37450199203187251</c:v>
                </c:pt>
                <c:pt idx="3">
                  <c:v>0.24561403508771928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inv24.xlsx]Hoja1'!$J$205</c:f>
              <c:strCache>
                <c:ptCount val="1"/>
                <c:pt idx="0">
                  <c:v>Sitios web oficiales</c:v>
                </c:pt>
              </c:strCache>
            </c:strRef>
          </c:tx>
          <c:invertIfNegative val="0"/>
          <c:cat>
            <c:strRef>
              <c:f>'[Base TOTAL inv24.xlsx]Hoja1'!$K$201:$N$201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inv24.xlsx]Hoja1'!$K$205:$N$205</c:f>
              <c:numCache>
                <c:formatCode>0%</c:formatCode>
                <c:ptCount val="4"/>
                <c:pt idx="0">
                  <c:v>0.64245810055865926</c:v>
                </c:pt>
                <c:pt idx="1">
                  <c:v>0.5731225296442688</c:v>
                </c:pt>
                <c:pt idx="2">
                  <c:v>0.23505976095617531</c:v>
                </c:pt>
                <c:pt idx="3">
                  <c:v>0.44736842105263158</c:v>
                </c:pt>
              </c:numCache>
            </c:numRef>
          </c:val>
        </c:ser>
        <c:ser>
          <c:idx val="4"/>
          <c:order val="4"/>
          <c:tx>
            <c:strRef>
              <c:f>'[Base TOTAL inv24.xlsx]Hoja1'!$J$206</c:f>
              <c:strCache>
                <c:ptCount val="1"/>
                <c:pt idx="0">
                  <c:v>Buscadores online </c:v>
                </c:pt>
              </c:strCache>
            </c:strRef>
          </c:tx>
          <c:invertIfNegative val="0"/>
          <c:cat>
            <c:strRef>
              <c:f>'[Base TOTAL inv24.xlsx]Hoja1'!$K$201:$N$201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inv24.xlsx]Hoja1'!$K$206:$N$206</c:f>
              <c:numCache>
                <c:formatCode>0%</c:formatCode>
                <c:ptCount val="4"/>
                <c:pt idx="0">
                  <c:v>0.13966480446927373</c:v>
                </c:pt>
                <c:pt idx="1">
                  <c:v>3.1620553359683792E-2</c:v>
                </c:pt>
                <c:pt idx="2">
                  <c:v>0.19123505976095617</c:v>
                </c:pt>
                <c:pt idx="3">
                  <c:v>0.13909774436090225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6497664"/>
        <c:axId val="166499456"/>
      </c:barChart>
      <c:catAx>
        <c:axId val="16649766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s-AR"/>
          </a:p>
        </c:txPr>
        <c:crossAx val="166499456"/>
        <c:crosses val="autoZero"/>
        <c:auto val="1"/>
        <c:lblAlgn val="ctr"/>
        <c:lblOffset val="100"/>
        <c:noMultiLvlLbl val="0"/>
      </c:catAx>
      <c:valAx>
        <c:axId val="1664994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6649766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s-A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'[Base TOTAL inv24.xlsx]Hoja1'!$J$221</c:f>
              <c:strCache>
                <c:ptCount val="1"/>
                <c:pt idx="0">
                  <c:v>SI</c:v>
                </c:pt>
              </c:strCache>
            </c:strRef>
          </c:tx>
          <c:invertIfNegative val="0"/>
          <c:cat>
            <c:strRef>
              <c:f>'[Base TOTAL inv24.xlsx]Hoja1'!$K$220:$N$220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inv24.xlsx]Hoja1'!$K$221:$N$221</c:f>
              <c:numCache>
                <c:formatCode>0%</c:formatCode>
                <c:ptCount val="4"/>
                <c:pt idx="0">
                  <c:v>0.75316455696202533</c:v>
                </c:pt>
                <c:pt idx="1">
                  <c:v>0.61520190023752974</c:v>
                </c:pt>
                <c:pt idx="2">
                  <c:v>0.38837209302325582</c:v>
                </c:pt>
                <c:pt idx="3">
                  <c:v>8.15450643776824E-2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inv24.xlsx]Hoja1'!$J$222</c:f>
              <c:strCache>
                <c:ptCount val="1"/>
                <c:pt idx="0">
                  <c:v>NO</c:v>
                </c:pt>
              </c:strCache>
            </c:strRef>
          </c:tx>
          <c:invertIfNegative val="0"/>
          <c:cat>
            <c:strRef>
              <c:f>'[Base TOTAL inv24.xlsx]Hoja1'!$K$220:$N$220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inv24.xlsx]Hoja1'!$K$222:$N$222</c:f>
              <c:numCache>
                <c:formatCode>0%</c:formatCode>
                <c:ptCount val="4"/>
                <c:pt idx="0">
                  <c:v>0.24683544303797469</c:v>
                </c:pt>
                <c:pt idx="1">
                  <c:v>0.38479809976247031</c:v>
                </c:pt>
                <c:pt idx="2">
                  <c:v>0.61162790697674418</c:v>
                </c:pt>
                <c:pt idx="3">
                  <c:v>0.91845493562231761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67346944"/>
        <c:axId val="167348480"/>
      </c:barChart>
      <c:catAx>
        <c:axId val="167346944"/>
        <c:scaling>
          <c:orientation val="minMax"/>
        </c:scaling>
        <c:delete val="0"/>
        <c:axPos val="b"/>
        <c:majorTickMark val="none"/>
        <c:minorTickMark val="none"/>
        <c:tickLblPos val="nextTo"/>
        <c:crossAx val="167348480"/>
        <c:crosses val="autoZero"/>
        <c:auto val="1"/>
        <c:lblAlgn val="ctr"/>
        <c:lblOffset val="100"/>
        <c:noMultiLvlLbl val="0"/>
      </c:catAx>
      <c:valAx>
        <c:axId val="16734848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7346944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s-A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'[Base TOTAL inv24.xlsx]Hoja1'!$J$251</c:f>
              <c:strCache>
                <c:ptCount val="1"/>
                <c:pt idx="0">
                  <c:v>Vehículo particular</c:v>
                </c:pt>
              </c:strCache>
            </c:strRef>
          </c:tx>
          <c:invertIfNegative val="0"/>
          <c:cat>
            <c:strRef>
              <c:f>'[Base TOTAL inv24.xlsx]Hoja1'!$K$250:$N$250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inv24.xlsx]Hoja1'!$K$251:$N$251</c:f>
              <c:numCache>
                <c:formatCode>0%</c:formatCode>
                <c:ptCount val="4"/>
                <c:pt idx="0">
                  <c:v>0.625</c:v>
                </c:pt>
                <c:pt idx="1">
                  <c:v>0.67892156862745101</c:v>
                </c:pt>
                <c:pt idx="2">
                  <c:v>0.70114942528735635</c:v>
                </c:pt>
                <c:pt idx="3">
                  <c:v>0.73333333333333328</c:v>
                </c:pt>
              </c:numCache>
            </c:numRef>
          </c:val>
        </c:ser>
        <c:ser>
          <c:idx val="1"/>
          <c:order val="1"/>
          <c:tx>
            <c:strRef>
              <c:f>'[Base TOTAL inv24.xlsx]Hoja1'!$J$252</c:f>
              <c:strCache>
                <c:ptCount val="1"/>
                <c:pt idx="0">
                  <c:v>Ómnibus</c:v>
                </c:pt>
              </c:strCache>
            </c:strRef>
          </c:tx>
          <c:invertIfNegative val="0"/>
          <c:cat>
            <c:strRef>
              <c:f>'[Base TOTAL inv24.xlsx]Hoja1'!$K$250:$N$250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inv24.xlsx]Hoja1'!$K$252:$N$252</c:f>
              <c:numCache>
                <c:formatCode>0%</c:formatCode>
                <c:ptCount val="4"/>
                <c:pt idx="0">
                  <c:v>0.24784482758620691</c:v>
                </c:pt>
                <c:pt idx="1">
                  <c:v>0.31127450980392157</c:v>
                </c:pt>
                <c:pt idx="2">
                  <c:v>0.25287356321839083</c:v>
                </c:pt>
                <c:pt idx="3">
                  <c:v>0.22105263157894736</c:v>
                </c:pt>
              </c:numCache>
            </c:numRef>
          </c:val>
        </c:ser>
        <c:ser>
          <c:idx val="2"/>
          <c:order val="2"/>
          <c:tx>
            <c:strRef>
              <c:f>'[Base TOTAL inv24.xlsx]Hoja1'!$J$253</c:f>
              <c:strCache>
                <c:ptCount val="1"/>
                <c:pt idx="0">
                  <c:v>Avión</c:v>
                </c:pt>
              </c:strCache>
            </c:strRef>
          </c:tx>
          <c:invertIfNegative val="0"/>
          <c:cat>
            <c:strRef>
              <c:f>'[Base TOTAL inv24.xlsx]Hoja1'!$K$250:$N$250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inv24.xlsx]Hoja1'!$K$253:$N$253</c:f>
              <c:numCache>
                <c:formatCode>0%</c:formatCode>
                <c:ptCount val="4"/>
                <c:pt idx="0">
                  <c:v>9.9137931034482762E-2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'[Base TOTAL inv24.xlsx]Hoja1'!$J$254</c:f>
              <c:strCache>
                <c:ptCount val="1"/>
                <c:pt idx="0">
                  <c:v>Tren</c:v>
                </c:pt>
              </c:strCache>
            </c:strRef>
          </c:tx>
          <c:invertIfNegative val="0"/>
          <c:cat>
            <c:strRef>
              <c:f>'[Base TOTAL inv24.xlsx]Hoja1'!$K$250:$N$250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inv24.xlsx]Hoja1'!$K$254:$N$254</c:f>
              <c:numCache>
                <c:formatCode>0%</c:formatCode>
                <c:ptCount val="4"/>
                <c:pt idx="0">
                  <c:v>1.2931034482758621E-2</c:v>
                </c:pt>
                <c:pt idx="1">
                  <c:v>2.4509803921568627E-3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4"/>
          <c:order val="4"/>
          <c:tx>
            <c:strRef>
              <c:f>'[Base TOTAL inv24.xlsx]Hoja1'!$J$255</c:f>
              <c:strCache>
                <c:ptCount val="1"/>
                <c:pt idx="0">
                  <c:v>Vehículo alquilado</c:v>
                </c:pt>
              </c:strCache>
            </c:strRef>
          </c:tx>
          <c:invertIfNegative val="0"/>
          <c:cat>
            <c:strRef>
              <c:f>'[Base TOTAL inv24.xlsx]Hoja1'!$K$250:$N$250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inv24.xlsx]Hoja1'!$K$255:$N$255</c:f>
              <c:numCache>
                <c:formatCode>0%</c:formatCode>
                <c:ptCount val="4"/>
                <c:pt idx="0">
                  <c:v>1.0775862068965518E-2</c:v>
                </c:pt>
                <c:pt idx="1">
                  <c:v>0</c:v>
                </c:pt>
                <c:pt idx="2">
                  <c:v>2.9885057471264367E-2</c:v>
                </c:pt>
                <c:pt idx="3">
                  <c:v>1.0526315789473684E-2</c:v>
                </c:pt>
              </c:numCache>
            </c:numRef>
          </c:val>
        </c:ser>
        <c:ser>
          <c:idx val="5"/>
          <c:order val="5"/>
          <c:tx>
            <c:strRef>
              <c:f>'[Base TOTAL inv24.xlsx]Hoja1'!$J$256</c:f>
              <c:strCache>
                <c:ptCount val="1"/>
                <c:pt idx="0">
                  <c:v>Otro</c:v>
                </c:pt>
              </c:strCache>
            </c:strRef>
          </c:tx>
          <c:invertIfNegative val="0"/>
          <c:cat>
            <c:strRef>
              <c:f>'[Base TOTAL inv24.xlsx]Hoja1'!$K$250:$N$250</c:f>
              <c:strCache>
                <c:ptCount val="4"/>
                <c:pt idx="0">
                  <c:v>SMT</c:v>
                </c:pt>
                <c:pt idx="1">
                  <c:v>TAFI DEL VALLE</c:v>
                </c:pt>
                <c:pt idx="2">
                  <c:v>SAN PEDRO DE COLALAO</c:v>
                </c:pt>
                <c:pt idx="3">
                  <c:v>SAN JAVIER</c:v>
                </c:pt>
              </c:strCache>
            </c:strRef>
          </c:cat>
          <c:val>
            <c:numRef>
              <c:f>'[Base TOTAL inv24.xlsx]Hoja1'!$K$256:$N$256</c:f>
              <c:numCache>
                <c:formatCode>0%</c:formatCode>
                <c:ptCount val="4"/>
                <c:pt idx="0">
                  <c:v>4.3103448275862068E-3</c:v>
                </c:pt>
                <c:pt idx="1">
                  <c:v>7.3529411764705881E-3</c:v>
                </c:pt>
                <c:pt idx="2">
                  <c:v>1.6091954022988506E-2</c:v>
                </c:pt>
                <c:pt idx="3">
                  <c:v>3.5087719298245612E-2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7389440"/>
        <c:axId val="167391232"/>
      </c:barChart>
      <c:catAx>
        <c:axId val="16738944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s-AR"/>
          </a:p>
        </c:txPr>
        <c:crossAx val="167391232"/>
        <c:crosses val="autoZero"/>
        <c:auto val="1"/>
        <c:lblAlgn val="ctr"/>
        <c:lblOffset val="100"/>
        <c:noMultiLvlLbl val="0"/>
      </c:catAx>
      <c:valAx>
        <c:axId val="167391232"/>
        <c:scaling>
          <c:orientation val="minMax"/>
        </c:scaling>
        <c:delete val="0"/>
        <c:axPos val="b"/>
        <c:majorGridlines/>
        <c:numFmt formatCode="0%" sourceLinked="1"/>
        <c:majorTickMark val="out"/>
        <c:minorTickMark val="none"/>
        <c:tickLblPos val="nextTo"/>
        <c:crossAx val="167389440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s-A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29/07/2024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57200" y="1628800"/>
            <a:ext cx="7772400" cy="3171799"/>
          </a:xfrm>
        </p:spPr>
        <p:txBody>
          <a:bodyPr/>
          <a:lstStyle/>
          <a:p>
            <a:r>
              <a:rPr lang="es-ES" sz="4000" dirty="0" smtClean="0"/>
              <a:t>Balance </a:t>
            </a:r>
            <a:br>
              <a:rPr lang="es-ES" sz="4000" dirty="0" smtClean="0"/>
            </a:br>
            <a:r>
              <a:rPr lang="es-ES" sz="4000" dirty="0" smtClean="0"/>
              <a:t>Invierno</a:t>
            </a:r>
            <a:br>
              <a:rPr lang="es-ES" sz="4000" dirty="0" smtClean="0"/>
            </a:br>
            <a:r>
              <a:rPr lang="es-ES" sz="4000" dirty="0" smtClean="0"/>
              <a:t> 2024</a:t>
            </a:r>
            <a:endParaRPr lang="es-AR" sz="4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5">
                    <a:lumMod val="75000"/>
                  </a:schemeClr>
                </a:solidFill>
              </a:rPr>
              <a:t>TUCUMÁN </a:t>
            </a:r>
            <a:endParaRPr lang="es-AR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4664"/>
            <a:ext cx="2592288" cy="576064"/>
          </a:xfrm>
          <a:prstGeom prst="rect">
            <a:avLst/>
          </a:prstGeom>
          <a:noFill/>
        </p:spPr>
      </p:pic>
      <p:pic>
        <p:nvPicPr>
          <p:cNvPr id="5" name="1 Imagen" descr="Logo Observatorio sin fondo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0232" y="299730"/>
            <a:ext cx="1440160" cy="7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9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4" name="3 Rectángulo"/>
          <p:cNvSpPr/>
          <p:nvPr/>
        </p:nvSpPr>
        <p:spPr>
          <a:xfrm>
            <a:off x="179512" y="2503929"/>
            <a:ext cx="640871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 smtClean="0"/>
              <a:t>Grafico Nº1: </a:t>
            </a:r>
            <a:r>
              <a:rPr lang="es-ES" sz="1200" b="1" i="1" dirty="0"/>
              <a:t>procedencia de los </a:t>
            </a:r>
            <a:r>
              <a:rPr lang="es-ES" sz="1200" b="1" i="1" dirty="0" smtClean="0"/>
              <a:t>turistas. Tucumán </a:t>
            </a:r>
            <a:r>
              <a:rPr lang="es-ES" sz="1200" b="1" i="1" dirty="0"/>
              <a:t>Invierno </a:t>
            </a:r>
            <a:r>
              <a:rPr lang="es-ES" sz="1200" b="1" i="1" dirty="0" smtClean="0"/>
              <a:t>2024. </a:t>
            </a:r>
            <a:endParaRPr lang="es-ES" sz="1200" b="1" i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6660232" y="3212976"/>
            <a:ext cx="22322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El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98,8%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 de los turistas que visitaron nuestra provincia fueron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argentinos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, siendo el </a:t>
            </a:r>
            <a:r>
              <a:rPr lang="es-ES" sz="1200" b="1" dirty="0" smtClean="0">
                <a:solidFill>
                  <a:schemeClr val="accent5">
                    <a:lumMod val="75000"/>
                  </a:schemeClr>
                </a:solidFill>
              </a:rPr>
              <a:t>1,2% extranjero.</a:t>
            </a:r>
          </a:p>
          <a:p>
            <a:pPr algn="ctr"/>
            <a:endParaRPr lang="es-ES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s-ES" sz="1200" dirty="0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s-ES" sz="1200" dirty="0" smtClean="0">
                <a:solidFill>
                  <a:schemeClr val="accent5">
                    <a:lumMod val="75000"/>
                  </a:schemeClr>
                </a:solidFill>
              </a:rPr>
              <a:t>urante esta temporada invernal se registro que los turistas provinieron principalmente de Buenos Aires, otras localidades de la provincia, como así también de Santa Fe, Córdoba, Mendoza y Chaco.</a:t>
            </a:r>
            <a:endParaRPr lang="es-AR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79512" y="1556792"/>
            <a:ext cx="84249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400" b="1" i="1" dirty="0" smtClean="0">
                <a:solidFill>
                  <a:schemeClr val="accent1">
                    <a:lumMod val="75000"/>
                  </a:schemeClr>
                </a:solidFill>
              </a:rPr>
              <a:t>Durante julio 2024 se realizaron relevamientos estadísticos por medio de encuestas en los principales destinos turísticos de la provincia, a partir de los cuales se obtuvieron los siguientes datos de importancia:</a:t>
            </a:r>
            <a:endParaRPr lang="es-ES" sz="1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2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7728668"/>
              </p:ext>
            </p:extLst>
          </p:nvPr>
        </p:nvGraphicFramePr>
        <p:xfrm>
          <a:off x="94085" y="2924944"/>
          <a:ext cx="6494139" cy="3810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5799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3" name="2 Rectángulo"/>
          <p:cNvSpPr/>
          <p:nvPr/>
        </p:nvSpPr>
        <p:spPr>
          <a:xfrm>
            <a:off x="251520" y="1628800"/>
            <a:ext cx="554461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nº2:Principal motivo de su visita. Tucumán. Invierno </a:t>
            </a:r>
            <a:r>
              <a:rPr lang="es-ES" sz="1200" b="1" i="1" dirty="0" smtClean="0"/>
              <a:t>2024.</a:t>
            </a:r>
            <a:endParaRPr lang="es-ES" sz="1200" b="1" i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5796136" y="2348880"/>
            <a:ext cx="3081386" cy="280076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s-ES" sz="1100" dirty="0" smtClean="0"/>
              <a:t>En promedio, </a:t>
            </a:r>
            <a:r>
              <a:rPr lang="es-ES" sz="1100" dirty="0"/>
              <a:t>San Miguel de Tucumán tiene el mayor porcentaje de visitantes </a:t>
            </a:r>
            <a:r>
              <a:rPr lang="es-ES" sz="1100" dirty="0" smtClean="0"/>
              <a:t>nuevos, </a:t>
            </a:r>
            <a:r>
              <a:rPr lang="es-ES" sz="1100" dirty="0"/>
              <a:t>con un 66%, </a:t>
            </a:r>
            <a:r>
              <a:rPr lang="es-ES" sz="1100" dirty="0" smtClean="0"/>
              <a:t>posicionándola como una ciudad atractiva para nuevos turistas, </a:t>
            </a:r>
            <a:r>
              <a:rPr lang="es-ES" sz="1100" dirty="0" err="1" smtClean="0"/>
              <a:t>Tafí</a:t>
            </a:r>
            <a:r>
              <a:rPr lang="es-ES" sz="1100" dirty="0" smtClean="0"/>
              <a:t> </a:t>
            </a:r>
            <a:r>
              <a:rPr lang="es-ES" sz="1100" dirty="0"/>
              <a:t>del Valle sigue con un 57% </a:t>
            </a:r>
            <a:r>
              <a:rPr lang="es-ES" sz="1100" dirty="0" smtClean="0"/>
              <a:t>de nuevos visitantes. San Pedro </a:t>
            </a:r>
            <a:r>
              <a:rPr lang="es-ES" sz="1100" dirty="0"/>
              <a:t>de </a:t>
            </a:r>
            <a:r>
              <a:rPr lang="es-ES" sz="1100" dirty="0" err="1"/>
              <a:t>Colalao</a:t>
            </a:r>
            <a:r>
              <a:rPr lang="es-ES" sz="1100" dirty="0"/>
              <a:t> presenta el porcentaje más bajo de nuevos visitantes, con solo un 39%, </a:t>
            </a:r>
            <a:r>
              <a:rPr lang="es-ES" sz="1100" dirty="0" smtClean="0"/>
              <a:t>destacándose </a:t>
            </a:r>
            <a:r>
              <a:rPr lang="es-ES" sz="1100" dirty="0"/>
              <a:t>con el mayor porcentaje de visitantes recurrentes, alcanzando un 61%, lo que sugiere  </a:t>
            </a:r>
            <a:r>
              <a:rPr lang="es-ES" sz="1100" dirty="0" smtClean="0"/>
              <a:t>una gran cantidad de  </a:t>
            </a:r>
            <a:r>
              <a:rPr lang="es-ES" sz="1100" dirty="0"/>
              <a:t>turistas </a:t>
            </a:r>
            <a:r>
              <a:rPr lang="es-ES" sz="1100" dirty="0" smtClean="0"/>
              <a:t>recurrentes. San </a:t>
            </a:r>
            <a:r>
              <a:rPr lang="es-ES" sz="1100" dirty="0"/>
              <a:t>Javier tiene un equilibrio entre nuevos y recurrentes visitantes, con un 48% y 52% </a:t>
            </a:r>
            <a:r>
              <a:rPr lang="es-ES" sz="1100" dirty="0" smtClean="0"/>
              <a:t>respectivamente.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s-ES" sz="1100" dirty="0"/>
          </a:p>
        </p:txBody>
      </p:sp>
      <p:graphicFrame>
        <p:nvGraphicFramePr>
          <p:cNvPr id="8" name="4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0343035"/>
              </p:ext>
            </p:extLst>
          </p:nvPr>
        </p:nvGraphicFramePr>
        <p:xfrm>
          <a:off x="251520" y="2178619"/>
          <a:ext cx="5472608" cy="2906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5 Rectángulo"/>
          <p:cNvSpPr/>
          <p:nvPr/>
        </p:nvSpPr>
        <p:spPr>
          <a:xfrm>
            <a:off x="251520" y="5353095"/>
            <a:ext cx="8496943" cy="6463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s-ES" sz="1200" dirty="0"/>
              <a:t>San Miguel de Tucumán se destaca por un alto porcentaje de visitantes por ocio (86%), </a:t>
            </a:r>
            <a:r>
              <a:rPr lang="es-ES" sz="1200" dirty="0" err="1"/>
              <a:t>Tafí</a:t>
            </a:r>
            <a:r>
              <a:rPr lang="es-ES" sz="1200" dirty="0"/>
              <a:t> del Valle y San Javier combinan ocio y naturaleza (79% y 64% respectivamente para ocio; 16% cada uno para naturaleza), y San Pedro de </a:t>
            </a:r>
            <a:r>
              <a:rPr lang="es-ES" sz="1200" dirty="0" err="1"/>
              <a:t>Colalao</a:t>
            </a:r>
            <a:r>
              <a:rPr lang="es-ES" sz="1200" dirty="0"/>
              <a:t> presenta una distribución más diversificada, destacándose también en visitas a familiares o amigos (15%).</a:t>
            </a:r>
          </a:p>
        </p:txBody>
      </p:sp>
    </p:spTree>
    <p:extLst>
      <p:ext uri="{BB962C8B-B14F-4D97-AF65-F5344CB8AC3E}">
        <p14:creationId xmlns:p14="http://schemas.microsoft.com/office/powerpoint/2010/main" val="161921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88640"/>
            <a:ext cx="7128792" cy="975638"/>
          </a:xfrm>
        </p:spPr>
        <p:txBody>
          <a:bodyPr>
            <a:normAutofit fontScale="90000"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3" name="2 Rectángulo"/>
          <p:cNvSpPr/>
          <p:nvPr/>
        </p:nvSpPr>
        <p:spPr>
          <a:xfrm>
            <a:off x="251520" y="1196752"/>
            <a:ext cx="83529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Nº3: turistas según con quien viaja. TUCUMAN. Invierno </a:t>
            </a:r>
            <a:r>
              <a:rPr lang="es-ES" sz="1200" b="1" i="1" dirty="0" smtClean="0"/>
              <a:t>2024.</a:t>
            </a:r>
            <a:r>
              <a:rPr lang="es-ES" sz="1200" b="1" i="1" dirty="0"/>
              <a:t>		</a:t>
            </a:r>
          </a:p>
        </p:txBody>
      </p:sp>
      <p:graphicFrame>
        <p:nvGraphicFramePr>
          <p:cNvPr id="12" name="5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388020"/>
              </p:ext>
            </p:extLst>
          </p:nvPr>
        </p:nvGraphicFramePr>
        <p:xfrm>
          <a:off x="251520" y="1473751"/>
          <a:ext cx="8393215" cy="2825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3 Rectángulo"/>
          <p:cNvSpPr/>
          <p:nvPr/>
        </p:nvSpPr>
        <p:spPr>
          <a:xfrm>
            <a:off x="251520" y="5157192"/>
            <a:ext cx="8352928" cy="12003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200" dirty="0" smtClean="0"/>
              <a:t>El grafico Nº 3 permite observar que </a:t>
            </a:r>
            <a:r>
              <a:rPr lang="es-ES" sz="1200" dirty="0"/>
              <a:t>viajar en familia es el motivo predominante en todas las localidades, siendo más alto en San Javier (62%) y San Miguel de Tucumán (60%). Los viajes con pareja/novio son más comunes en </a:t>
            </a:r>
            <a:r>
              <a:rPr lang="es-ES" sz="1200" dirty="0" err="1"/>
              <a:t>Tafí</a:t>
            </a:r>
            <a:r>
              <a:rPr lang="es-ES" sz="1200" dirty="0"/>
              <a:t> del Valle (21%) y San Javier (20%). San Pedro de </a:t>
            </a:r>
            <a:r>
              <a:rPr lang="es-ES" sz="1200" dirty="0" err="1"/>
              <a:t>Colalao</a:t>
            </a:r>
            <a:r>
              <a:rPr lang="es-ES" sz="1200" dirty="0"/>
              <a:t> destaca por tener un porcentaje relativamente alto de viajeros solos (10%) en comparación con las otras localidades. Los viajes con colegas son minoritarios en todas las localidades. El promedio de tamaño de grupo es más alto en San Miguel de Tucumán (3,9) y más bajo en San Pedro de </a:t>
            </a:r>
            <a:r>
              <a:rPr lang="es-ES" sz="1200" dirty="0" err="1"/>
              <a:t>Colalao</a:t>
            </a:r>
            <a:r>
              <a:rPr lang="es-ES" sz="1200" dirty="0"/>
              <a:t> (3,2).</a:t>
            </a:r>
            <a:endParaRPr lang="es-AR" sz="1200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51473"/>
              </p:ext>
            </p:extLst>
          </p:nvPr>
        </p:nvGraphicFramePr>
        <p:xfrm>
          <a:off x="1655676" y="4437112"/>
          <a:ext cx="5544616" cy="57742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520563"/>
                <a:gridCol w="1569812"/>
                <a:gridCol w="714110"/>
                <a:gridCol w="492490"/>
                <a:gridCol w="1247641"/>
              </a:tblGrid>
              <a:tr h="21166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000" b="1" u="none" strike="noStrike" dirty="0">
                          <a:effectLst/>
                        </a:rPr>
                        <a:t> 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000" b="1" u="none" strike="noStrike">
                          <a:effectLst/>
                        </a:rPr>
                        <a:t>SMT</a:t>
                      </a:r>
                      <a:endParaRPr lang="es-AR" sz="1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000" b="1" u="none" strike="noStrike">
                          <a:effectLst/>
                        </a:rPr>
                        <a:t>TAFI</a:t>
                      </a:r>
                      <a:endParaRPr lang="es-AR" sz="1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000" b="1" u="none" strike="noStrike">
                          <a:effectLst/>
                        </a:rPr>
                        <a:t>SPC</a:t>
                      </a:r>
                      <a:endParaRPr lang="es-AR" sz="1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000" b="1" u="none" strike="noStrike">
                          <a:effectLst/>
                        </a:rPr>
                        <a:t>SAN JAVIER</a:t>
                      </a:r>
                      <a:endParaRPr lang="es-AR" sz="1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</a:tr>
              <a:tr h="256265">
                <a:tc>
                  <a:txBody>
                    <a:bodyPr/>
                    <a:lstStyle/>
                    <a:p>
                      <a:pPr algn="ctr" fontAlgn="b"/>
                      <a:r>
                        <a:rPr lang="es-AR" sz="1000" b="1" u="none" strike="noStrike" dirty="0" smtClean="0">
                          <a:effectLst/>
                        </a:rPr>
                        <a:t>Tamaño promedio Grupo de viaje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b="1" u="none" strike="noStrike" dirty="0">
                          <a:effectLst/>
                        </a:rPr>
                        <a:t>                                                                            3,9 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b="1" u="none" strike="noStrike" dirty="0">
                          <a:effectLst/>
                        </a:rPr>
                        <a:t>                              3,7 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b="1" u="none" strike="noStrike" dirty="0">
                          <a:effectLst/>
                        </a:rPr>
                        <a:t>                  3,2 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b="1" u="none" strike="noStrike" dirty="0">
                          <a:effectLst/>
                        </a:rPr>
                        <a:t>                                                          3,8 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55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7128792" cy="1119654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9" name="8 Rectángulo"/>
          <p:cNvSpPr/>
          <p:nvPr/>
        </p:nvSpPr>
        <p:spPr>
          <a:xfrm>
            <a:off x="291807" y="1149168"/>
            <a:ext cx="850725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Nº4: turistas según con rango etario. Tucumán. Invierno </a:t>
            </a:r>
            <a:r>
              <a:rPr lang="es-ES" sz="1200" b="1" i="1" dirty="0" smtClean="0"/>
              <a:t>2024.</a:t>
            </a:r>
            <a:r>
              <a:rPr lang="es-ES" sz="1200" b="1" i="1" dirty="0"/>
              <a:t>		</a:t>
            </a:r>
          </a:p>
        </p:txBody>
      </p:sp>
      <p:graphicFrame>
        <p:nvGraphicFramePr>
          <p:cNvPr id="12" name="6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6906582"/>
              </p:ext>
            </p:extLst>
          </p:nvPr>
        </p:nvGraphicFramePr>
        <p:xfrm>
          <a:off x="467544" y="1556792"/>
          <a:ext cx="8331517" cy="3096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12 Rectángulo"/>
          <p:cNvSpPr/>
          <p:nvPr/>
        </p:nvSpPr>
        <p:spPr>
          <a:xfrm>
            <a:off x="368970" y="4797152"/>
            <a:ext cx="8352928" cy="10156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200" dirty="0" smtClean="0"/>
              <a:t>El grafico Nº 4, permite analizar el rango etario de los visitantes registrados durante esta temporada invernal</a:t>
            </a:r>
            <a:r>
              <a:rPr lang="es-ES" sz="1200" dirty="0"/>
              <a:t>, </a:t>
            </a:r>
            <a:r>
              <a:rPr lang="es-ES" sz="1200" dirty="0" smtClean="0"/>
              <a:t>la </a:t>
            </a:r>
            <a:r>
              <a:rPr lang="es-ES" sz="1200" dirty="0"/>
              <a:t>distribución etaria muestra un perfil similar en todas las localidades analizadas. En términos generales, la población visitante se distribuye de manera equilibrada entre jóvenes menores de 20 años (28%) y adultos jóvenes de entre 20 y 40 años (32%). Además, una proporción significativa de visitantes se encuentra en el rango de 40 a 60 años (30%). Por otro lado, los mayores de 60 años constituyen el 10% de la población visitante.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95173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41" y="-22469"/>
            <a:ext cx="7128792" cy="1147213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3" name="2 Rectángulo"/>
          <p:cNvSpPr/>
          <p:nvPr/>
        </p:nvSpPr>
        <p:spPr>
          <a:xfrm>
            <a:off x="273024" y="1052736"/>
            <a:ext cx="8187407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Nº5: turistas según tiempo de planificación del viaje. Tucumán.  Invierno </a:t>
            </a:r>
            <a:r>
              <a:rPr lang="es-ES" sz="1200" b="1" i="1" dirty="0" smtClean="0"/>
              <a:t>2024. </a:t>
            </a:r>
            <a:r>
              <a:rPr lang="es-ES" sz="1200" b="1" i="1" dirty="0"/>
              <a:t>		</a:t>
            </a:r>
          </a:p>
        </p:txBody>
      </p:sp>
      <p:graphicFrame>
        <p:nvGraphicFramePr>
          <p:cNvPr id="10" name="7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99552"/>
              </p:ext>
            </p:extLst>
          </p:nvPr>
        </p:nvGraphicFramePr>
        <p:xfrm>
          <a:off x="273024" y="1412776"/>
          <a:ext cx="8369236" cy="2740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273024" y="4365104"/>
            <a:ext cx="8403432" cy="1384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 algn="just">
              <a:buFont typeface="Arial" pitchFamily="34" charset="0"/>
              <a:buChar char="•"/>
            </a:pPr>
            <a:r>
              <a:rPr lang="es-ES" sz="1400" dirty="0"/>
              <a:t>En cuanto a la planificación de los viajes, se observó que durante este invierno, los visitantes a destinos como San Javier y San Pedro de </a:t>
            </a:r>
            <a:r>
              <a:rPr lang="es-ES" sz="1400" dirty="0" err="1"/>
              <a:t>Colalao</a:t>
            </a:r>
            <a:r>
              <a:rPr lang="es-ES" sz="1400" dirty="0"/>
              <a:t> tendieron a decidir sus viajes de manera espontánea, viajando el mismo día en el 32% y el 36% de los casos, respectivamente. Estos </a:t>
            </a:r>
            <a:r>
              <a:rPr lang="es-ES" sz="1400" dirty="0" smtClean="0"/>
              <a:t>destinos se caracterizan </a:t>
            </a:r>
            <a:r>
              <a:rPr lang="es-ES" sz="1400" dirty="0"/>
              <a:t>por atraer a un gran número de </a:t>
            </a:r>
            <a:r>
              <a:rPr lang="es-ES" sz="1400" dirty="0" smtClean="0"/>
              <a:t>excursionistas. En </a:t>
            </a:r>
            <a:r>
              <a:rPr lang="es-ES" sz="1400" dirty="0"/>
              <a:t>contraste, la mayoría de los turistas que eligieron </a:t>
            </a:r>
            <a:r>
              <a:rPr lang="es-ES" sz="1400" dirty="0" err="1"/>
              <a:t>Tafí</a:t>
            </a:r>
            <a:r>
              <a:rPr lang="es-ES" sz="1400" dirty="0"/>
              <a:t> del Valle y San Miguel de Tucumán planificaron sus visitas con una anticipación de entre una semana y un mes, con un 42% y un 40% de los casos, respectivamente.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63085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41" y="-22469"/>
            <a:ext cx="7128792" cy="1147213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9" name="8 Rectángulo"/>
          <p:cNvSpPr/>
          <p:nvPr/>
        </p:nvSpPr>
        <p:spPr>
          <a:xfrm>
            <a:off x="107504" y="1191491"/>
            <a:ext cx="44275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Nº6: turistas según fuente de información utilizada. Tucumán.  Invierno </a:t>
            </a:r>
            <a:r>
              <a:rPr lang="es-ES" sz="1200" b="1" i="1" dirty="0" smtClean="0"/>
              <a:t>2024.</a:t>
            </a:r>
            <a:r>
              <a:rPr lang="es-ES" sz="1200" b="1" i="1" dirty="0"/>
              <a:t>		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4644008" y="1193891"/>
            <a:ext cx="4216983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s-ES" sz="1200" b="1" i="1" dirty="0" smtClean="0"/>
          </a:p>
          <a:p>
            <a:r>
              <a:rPr lang="es-ES" sz="1200" b="1" i="1" dirty="0" smtClean="0"/>
              <a:t>Grafico </a:t>
            </a:r>
            <a:r>
              <a:rPr lang="es-ES" sz="1200" b="1" i="1" dirty="0"/>
              <a:t>Nº7: turistas según sitios web utilizados</a:t>
            </a:r>
            <a:r>
              <a:rPr lang="es-ES" sz="1200" b="1" i="1" dirty="0" smtClean="0"/>
              <a:t>.</a:t>
            </a:r>
          </a:p>
        </p:txBody>
      </p:sp>
      <p:graphicFrame>
        <p:nvGraphicFramePr>
          <p:cNvPr id="13" name="9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449938"/>
              </p:ext>
            </p:extLst>
          </p:nvPr>
        </p:nvGraphicFramePr>
        <p:xfrm>
          <a:off x="142563" y="1676495"/>
          <a:ext cx="4377687" cy="3251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10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8033718"/>
              </p:ext>
            </p:extLst>
          </p:nvPr>
        </p:nvGraphicFramePr>
        <p:xfrm>
          <a:off x="4672452" y="1667035"/>
          <a:ext cx="4211960" cy="320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179512" y="5157192"/>
            <a:ext cx="8681479" cy="9541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 algn="just">
              <a:buFont typeface="Arial" pitchFamily="34" charset="0"/>
              <a:buChar char="•"/>
            </a:pPr>
            <a:r>
              <a:rPr lang="es-ES" sz="1400" dirty="0"/>
              <a:t>En promedio, el 55% de los visitantes buscaron información previa al viaje, siendo los principales medios de consulta Internet y recomendaciones de familiares y amigos. En San Pedro de </a:t>
            </a:r>
            <a:r>
              <a:rPr lang="es-ES" sz="1400" dirty="0" err="1"/>
              <a:t>Colalao</a:t>
            </a:r>
            <a:r>
              <a:rPr lang="es-ES" sz="1400" dirty="0"/>
              <a:t>, se destacó especialmente la información obtenida de visitas previas, lo que refuerza el análisis previo que posiciona al destino como uno con una alta tasa de turistas recurrentes.</a:t>
            </a:r>
            <a:endParaRPr lang="es-ES" sz="1400" dirty="0" smtClean="0"/>
          </a:p>
        </p:txBody>
      </p:sp>
    </p:spTree>
    <p:extLst>
      <p:ext uri="{BB962C8B-B14F-4D97-AF65-F5344CB8AC3E}">
        <p14:creationId xmlns:p14="http://schemas.microsoft.com/office/powerpoint/2010/main" val="125564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0685"/>
            <a:ext cx="7128792" cy="1119654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2024</a:t>
            </a:r>
            <a:endParaRPr lang="es-AR" sz="3000" dirty="0"/>
          </a:p>
        </p:txBody>
      </p:sp>
      <p:sp>
        <p:nvSpPr>
          <p:cNvPr id="5" name="4 Rectángulo"/>
          <p:cNvSpPr/>
          <p:nvPr/>
        </p:nvSpPr>
        <p:spPr>
          <a:xfrm>
            <a:off x="4427984" y="2348880"/>
            <a:ext cx="418192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Nº8: turistas según medios de trasporte utilizados. Tucumán. Invierno </a:t>
            </a:r>
            <a:r>
              <a:rPr lang="es-ES" sz="1200" b="1" i="1" dirty="0" smtClean="0"/>
              <a:t>2024.</a:t>
            </a:r>
            <a:endParaRPr lang="es-AR" sz="1200" b="1" i="1" dirty="0"/>
          </a:p>
        </p:txBody>
      </p:sp>
      <p:graphicFrame>
        <p:nvGraphicFramePr>
          <p:cNvPr id="8" name="11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381782"/>
              </p:ext>
            </p:extLst>
          </p:nvPr>
        </p:nvGraphicFramePr>
        <p:xfrm>
          <a:off x="107504" y="1652004"/>
          <a:ext cx="4032448" cy="171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488481"/>
              </p:ext>
            </p:extLst>
          </p:nvPr>
        </p:nvGraphicFramePr>
        <p:xfrm>
          <a:off x="179512" y="3501008"/>
          <a:ext cx="3960440" cy="1005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48664"/>
                <a:gridCol w="2011776"/>
              </a:tblGrid>
              <a:tr h="263922">
                <a:tc>
                  <a:txBody>
                    <a:bodyPr/>
                    <a:lstStyle/>
                    <a:p>
                      <a:pPr algn="ctr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ESTADIA </a:t>
                      </a:r>
                      <a:r>
                        <a:rPr lang="es-AR" sz="1100" b="1" u="none" strike="noStrike" dirty="0" smtClean="0">
                          <a:effectLst/>
                        </a:rPr>
                        <a:t>PROMEDIO INVIERNO</a:t>
                      </a:r>
                      <a:r>
                        <a:rPr lang="es-AR" sz="1100" b="1" u="none" strike="noStrike" baseline="0" dirty="0" smtClean="0">
                          <a:effectLst/>
                        </a:rPr>
                        <a:t> 2024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0" marR="0" marT="0" marB="0" anchor="ctr"/>
                </a:tc>
              </a:tr>
              <a:tr h="15004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SMT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1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 noches </a:t>
                      </a:r>
                      <a:endParaRPr lang="es-AR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15004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TAFI DEL VALLE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1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 noches</a:t>
                      </a:r>
                      <a:endParaRPr lang="es-AR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1500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SAN</a:t>
                      </a:r>
                      <a:r>
                        <a:rPr lang="es-ES" sz="11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PEDRO DE COLALAO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1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 noches</a:t>
                      </a:r>
                      <a:endParaRPr lang="es-AR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1500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SAN</a:t>
                      </a:r>
                      <a:r>
                        <a:rPr lang="es-ES" sz="11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JAVIER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1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 noches</a:t>
                      </a:r>
                      <a:endParaRPr lang="es-AR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107504" y="1190338"/>
            <a:ext cx="40324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Grafico Nº8: turistas según </a:t>
            </a:r>
            <a:r>
              <a:rPr lang="es-ES" sz="1200" b="1" i="1" dirty="0" smtClean="0"/>
              <a:t>si pernoctara o no en el destino. </a:t>
            </a:r>
            <a:r>
              <a:rPr lang="es-ES" sz="1200" b="1" i="1" dirty="0"/>
              <a:t>Tucumán. Invierno </a:t>
            </a:r>
            <a:r>
              <a:rPr lang="es-ES" sz="1200" b="1" i="1" dirty="0" smtClean="0"/>
              <a:t>2024.</a:t>
            </a:r>
            <a:endParaRPr lang="es-AR" sz="1200" b="1" i="1" dirty="0"/>
          </a:p>
        </p:txBody>
      </p:sp>
      <p:sp>
        <p:nvSpPr>
          <p:cNvPr id="9" name="8 CuadroTexto"/>
          <p:cNvSpPr txBox="1"/>
          <p:nvPr/>
        </p:nvSpPr>
        <p:spPr>
          <a:xfrm>
            <a:off x="142750" y="5013176"/>
            <a:ext cx="3997202" cy="17543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 algn="just">
              <a:buFont typeface="Arial" pitchFamily="34" charset="0"/>
              <a:buChar char="•"/>
            </a:pPr>
            <a:r>
              <a:rPr lang="es-ES" sz="1200" dirty="0" smtClean="0"/>
              <a:t>San </a:t>
            </a:r>
            <a:r>
              <a:rPr lang="es-ES" sz="1200" dirty="0"/>
              <a:t>Miguel de Tucumán y </a:t>
            </a:r>
            <a:r>
              <a:rPr lang="es-ES" sz="1200" dirty="0" err="1"/>
              <a:t>Tafí</a:t>
            </a:r>
            <a:r>
              <a:rPr lang="es-ES" sz="1200" dirty="0"/>
              <a:t> del Valle </a:t>
            </a:r>
            <a:r>
              <a:rPr lang="es-ES" sz="1200" dirty="0" smtClean="0"/>
              <a:t> presentaron  </a:t>
            </a:r>
            <a:r>
              <a:rPr lang="es-ES" sz="1200" dirty="0"/>
              <a:t>tasas de pernoctación del 75% y 62%, respectivamente. </a:t>
            </a:r>
            <a:r>
              <a:rPr lang="es-ES" sz="1200" dirty="0" smtClean="0"/>
              <a:t>En oposición, </a:t>
            </a:r>
            <a:r>
              <a:rPr lang="es-ES" sz="1200" dirty="0"/>
              <a:t>San Pedro de </a:t>
            </a:r>
            <a:r>
              <a:rPr lang="es-ES" sz="1200" dirty="0" err="1"/>
              <a:t>Colalao</a:t>
            </a:r>
            <a:r>
              <a:rPr lang="es-ES" sz="1200" dirty="0"/>
              <a:t> tiene una tasa de pernoctación del 39%, lo que indica que la mayoría de los visitantes optan por excursiones de un solo </a:t>
            </a:r>
            <a:r>
              <a:rPr lang="es-ES" sz="1200" dirty="0" smtClean="0"/>
              <a:t>día, igual a lo observado en San </a:t>
            </a:r>
            <a:r>
              <a:rPr lang="es-ES" sz="1200" dirty="0"/>
              <a:t>Javier </a:t>
            </a:r>
            <a:r>
              <a:rPr lang="es-ES" sz="1200" dirty="0" smtClean="0"/>
              <a:t>presenta, donde se registro la </a:t>
            </a:r>
            <a:r>
              <a:rPr lang="es-ES" sz="1200" dirty="0"/>
              <a:t>menor tasa de pernoctación, con solo un 8%, sugiriendo que es </a:t>
            </a:r>
            <a:r>
              <a:rPr lang="es-ES" sz="1200" dirty="0" smtClean="0"/>
              <a:t>el destino mas elegido por excursionistas.</a:t>
            </a:r>
            <a:endParaRPr lang="es-AR" sz="1200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79046" y="4612486"/>
            <a:ext cx="3724609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1200" b="1" dirty="0" smtClean="0"/>
              <a:t>ESTADIA PROMEDIO PROVINCIAL: 2,4 NOCHES</a:t>
            </a:r>
            <a:endParaRPr lang="es-AR" sz="1200" b="1" dirty="0"/>
          </a:p>
        </p:txBody>
      </p:sp>
      <p:sp>
        <p:nvSpPr>
          <p:cNvPr id="14" name="13 Rectángulo"/>
          <p:cNvSpPr/>
          <p:nvPr/>
        </p:nvSpPr>
        <p:spPr>
          <a:xfrm>
            <a:off x="4427984" y="1190338"/>
            <a:ext cx="4181928" cy="9541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indent="-171450" algn="just">
              <a:buFont typeface="Arial" pitchFamily="34" charset="0"/>
              <a:buChar char="•"/>
            </a:pPr>
            <a:r>
              <a:rPr lang="es-ES" sz="1400" dirty="0"/>
              <a:t>43,31% de los visitantes planean visitar </a:t>
            </a:r>
            <a:r>
              <a:rPr lang="es-ES" sz="1400" dirty="0" smtClean="0"/>
              <a:t>otras provincias del país, </a:t>
            </a:r>
            <a:r>
              <a:rPr lang="es-ES" sz="1400" dirty="0"/>
              <a:t>mientras que el 56,69% opta por no </a:t>
            </a:r>
            <a:r>
              <a:rPr lang="es-ES" sz="1400" dirty="0" smtClean="0"/>
              <a:t>hacerlo, eligiendo la provincia como su destino exclusivo de viaje. </a:t>
            </a:r>
            <a:endParaRPr lang="es-AR" sz="1400" dirty="0"/>
          </a:p>
        </p:txBody>
      </p:sp>
      <p:graphicFrame>
        <p:nvGraphicFramePr>
          <p:cNvPr id="16" name="1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9406411"/>
              </p:ext>
            </p:extLst>
          </p:nvPr>
        </p:nvGraphicFramePr>
        <p:xfrm>
          <a:off x="4427984" y="2924944"/>
          <a:ext cx="4464496" cy="3744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8817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2718"/>
            <a:ext cx="7128792" cy="1371600"/>
          </a:xfrm>
        </p:spPr>
        <p:txBody>
          <a:bodyPr>
            <a:normAutofit/>
          </a:bodyPr>
          <a:lstStyle/>
          <a:p>
            <a:r>
              <a:rPr lang="es-ES" sz="3000" dirty="0" smtClean="0"/>
              <a:t>PERFIL DE LOS TURISTAS INVIERNO </a:t>
            </a:r>
            <a:r>
              <a:rPr lang="es-ES" sz="3000" dirty="0" smtClean="0"/>
              <a:t>2024</a:t>
            </a:r>
            <a:endParaRPr lang="es-AR" sz="3000" dirty="0"/>
          </a:p>
        </p:txBody>
      </p:sp>
      <p:sp>
        <p:nvSpPr>
          <p:cNvPr id="5" name="4 Rectángulo"/>
          <p:cNvSpPr/>
          <p:nvPr/>
        </p:nvSpPr>
        <p:spPr>
          <a:xfrm>
            <a:off x="323528" y="1484784"/>
            <a:ext cx="864096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 smtClean="0"/>
              <a:t>Tabla Nº: turistas </a:t>
            </a:r>
            <a:r>
              <a:rPr lang="es-ES" sz="1200" b="1" i="1" dirty="0"/>
              <a:t>según actividades realizadas durante </a:t>
            </a:r>
            <a:r>
              <a:rPr lang="es-ES" sz="1200" b="1" i="1" dirty="0" smtClean="0"/>
              <a:t>estadía según el destino. Invierno 2024.</a:t>
            </a:r>
            <a:r>
              <a:rPr lang="es-ES" sz="1200" b="1" i="1" dirty="0">
                <a:solidFill>
                  <a:schemeClr val="accent5">
                    <a:lumMod val="75000"/>
                  </a:schemeClr>
                </a:solidFill>
              </a:rPr>
              <a:t>	</a:t>
            </a:r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64188"/>
            <a:ext cx="4320480" cy="2356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5" y="4360120"/>
            <a:ext cx="4365713" cy="2084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92" y="1864187"/>
            <a:ext cx="4076464" cy="2356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93" y="4352925"/>
            <a:ext cx="4076464" cy="2092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64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251520" y="0"/>
            <a:ext cx="8352928" cy="1124744"/>
          </a:xfrm>
        </p:spPr>
        <p:txBody>
          <a:bodyPr>
            <a:normAutofit fontScale="90000"/>
          </a:bodyPr>
          <a:lstStyle/>
          <a:p>
            <a:r>
              <a:rPr lang="es-ES" sz="3000" dirty="0" err="1"/>
              <a:t>Ocupacion</a:t>
            </a:r>
            <a:r>
              <a:rPr lang="es-ES" sz="3000" dirty="0"/>
              <a:t> hotelera y </a:t>
            </a:r>
            <a:r>
              <a:rPr lang="es-ES" sz="3000" dirty="0" err="1"/>
              <a:t>parahotelera</a:t>
            </a:r>
            <a:r>
              <a:rPr lang="es-ES" sz="3000" dirty="0"/>
              <a:t/>
            </a:r>
            <a:br>
              <a:rPr lang="es-ES" sz="3000" dirty="0"/>
            </a:br>
            <a:r>
              <a:rPr lang="es-ES" sz="3000" dirty="0"/>
              <a:t>INVIERNO 2024</a:t>
            </a:r>
            <a:endParaRPr lang="es-AR" sz="3000" dirty="0"/>
          </a:p>
        </p:txBody>
      </p:sp>
      <p:sp>
        <p:nvSpPr>
          <p:cNvPr id="10" name="9 Rectángulo"/>
          <p:cNvSpPr/>
          <p:nvPr/>
        </p:nvSpPr>
        <p:spPr>
          <a:xfrm>
            <a:off x="531928" y="1445875"/>
            <a:ext cx="439248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i="1" dirty="0"/>
              <a:t>tabla </a:t>
            </a:r>
            <a:r>
              <a:rPr lang="es-ES" sz="1200" b="1" i="1" dirty="0" err="1"/>
              <a:t>Nº</a:t>
            </a:r>
            <a:r>
              <a:rPr lang="es-ES" sz="1200" b="1" i="1" dirty="0"/>
              <a:t> 1: Promedio de ocupación hotelera y </a:t>
            </a:r>
            <a:r>
              <a:rPr lang="es-ES" sz="1200" b="1" i="1" dirty="0" err="1"/>
              <a:t>parahotelera</a:t>
            </a:r>
            <a:r>
              <a:rPr lang="es-ES" sz="1200" b="1" i="1" dirty="0"/>
              <a:t> por destino. Invierno 2024.</a:t>
            </a:r>
          </a:p>
        </p:txBody>
      </p:sp>
      <p:graphicFrame>
        <p:nvGraphicFramePr>
          <p:cNvPr id="13" name="1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188121"/>
              </p:ext>
            </p:extLst>
          </p:nvPr>
        </p:nvGraphicFramePr>
        <p:xfrm>
          <a:off x="683568" y="5799068"/>
          <a:ext cx="3888432" cy="556260"/>
        </p:xfrm>
        <a:graphic>
          <a:graphicData uri="http://schemas.openxmlformats.org/drawingml/2006/table">
            <a:tbl>
              <a:tblPr bandCol="1">
                <a:tableStyleId>{5FD0F851-EC5A-4D38-B0AD-8093EC10F338}</a:tableStyleId>
              </a:tblPr>
              <a:tblGrid>
                <a:gridCol w="24122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761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1" u="none" strike="noStrike" dirty="0">
                          <a:effectLst/>
                        </a:rPr>
                        <a:t>Promedio de ocupación provincial </a:t>
                      </a:r>
                      <a:endParaRPr lang="es-AR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3200" b="1" u="none" strike="noStrike" dirty="0">
                          <a:effectLst/>
                        </a:rPr>
                        <a:t>57%</a:t>
                      </a:r>
                      <a:endParaRPr lang="es-AR" sz="3200" b="1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4965621" y="1124744"/>
            <a:ext cx="374441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Con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picos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superiores al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90% durante los fin de semana,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</a:rPr>
              <a:t>Tafi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 del Valle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 se posiciono como la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localidad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 con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mayor demanda en hoteles y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</a:rPr>
              <a:t>parahoteleres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 cerrando una temporada invernal con un promedio de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65%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 (con un descenso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interanual de 21%), siguiendo San Miguel de Tucumán, Yerba Buena y El Cadilla con 61%,  77% y 60%.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s-ES" sz="1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Del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6 al 28 de julio 2024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la provincia registro un promedio de ocupación de </a:t>
            </a:r>
            <a:r>
              <a:rPr lang="es-ES" sz="1600" b="1" dirty="0" smtClean="0">
                <a:solidFill>
                  <a:schemeClr val="accent5">
                    <a:lumMod val="75000"/>
                  </a:schemeClr>
                </a:solidFill>
              </a:rPr>
              <a:t>57%</a:t>
            </a:r>
            <a:r>
              <a:rPr lang="es-ES" sz="16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registrando una disminución de 15,5 puntos porcentuales respecto a igual periodo 2023, pero alineado a lo registrado a nivel país.</a:t>
            </a:r>
          </a:p>
        </p:txBody>
      </p:sp>
      <p:graphicFrame>
        <p:nvGraphicFramePr>
          <p:cNvPr id="15" name="Tabla 2">
            <a:extLst>
              <a:ext uri="{FF2B5EF4-FFF2-40B4-BE49-F238E27FC236}">
                <a16:creationId xmlns="" xmlns:a16="http://schemas.microsoft.com/office/drawing/2014/main" id="{1BD4E85B-D4C2-FBE2-6712-CE68EDAB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170171"/>
              </p:ext>
            </p:extLst>
          </p:nvPr>
        </p:nvGraphicFramePr>
        <p:xfrm>
          <a:off x="539552" y="2060848"/>
          <a:ext cx="4392488" cy="335127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33877">
                  <a:extLst>
                    <a:ext uri="{9D8B030D-6E8A-4147-A177-3AD203B41FA5}">
                      <a16:colId xmlns="" xmlns:a16="http://schemas.microsoft.com/office/drawing/2014/main" val="3395999021"/>
                    </a:ext>
                  </a:extLst>
                </a:gridCol>
                <a:gridCol w="1387101">
                  <a:extLst>
                    <a:ext uri="{9D8B030D-6E8A-4147-A177-3AD203B41FA5}">
                      <a16:colId xmlns="" xmlns:a16="http://schemas.microsoft.com/office/drawing/2014/main" val="549231431"/>
                    </a:ext>
                  </a:extLst>
                </a:gridCol>
                <a:gridCol w="1271510">
                  <a:extLst>
                    <a:ext uri="{9D8B030D-6E8A-4147-A177-3AD203B41FA5}">
                      <a16:colId xmlns="" xmlns:a16="http://schemas.microsoft.com/office/drawing/2014/main" val="3327733615"/>
                    </a:ext>
                  </a:extLst>
                </a:gridCol>
              </a:tblGrid>
              <a:tr h="561937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300" b="1" u="none" strike="noStrike" dirty="0">
                          <a:effectLst/>
                        </a:rPr>
                        <a:t> </a:t>
                      </a:r>
                      <a:endParaRPr lang="es-ES" sz="13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6  AL 28 DE JULIO 2024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 err="1">
                          <a:effectLst/>
                        </a:rPr>
                        <a:t>dif</a:t>
                      </a:r>
                      <a:r>
                        <a:rPr lang="es-ES" sz="1300" b="1" u="none" strike="noStrike" dirty="0">
                          <a:effectLst/>
                        </a:rPr>
                        <a:t> </a:t>
                      </a:r>
                      <a:r>
                        <a:rPr lang="es-ES" sz="1300" b="1" u="none" strike="noStrike" dirty="0" err="1" smtClean="0">
                          <a:effectLst/>
                        </a:rPr>
                        <a:t>p.p</a:t>
                      </a:r>
                      <a:r>
                        <a:rPr lang="es-ES" sz="1300" b="1" u="none" strike="noStrike" dirty="0" smtClean="0">
                          <a:effectLst/>
                        </a:rPr>
                        <a:t>* </a:t>
                      </a:r>
                      <a:r>
                        <a:rPr lang="es-ES" sz="1300" b="1" u="none" strike="noStrike" dirty="0">
                          <a:effectLst/>
                        </a:rPr>
                        <a:t>2023/2024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623720085"/>
                  </a:ext>
                </a:extLst>
              </a:tr>
              <a:tr h="280969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300" b="1" u="none" strike="noStrike" dirty="0">
                          <a:effectLst/>
                        </a:rPr>
                        <a:t>SMT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61%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-16%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3855752924"/>
                  </a:ext>
                </a:extLst>
              </a:tr>
              <a:tr h="529518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300" b="1" u="none" strike="noStrike">
                          <a:effectLst/>
                        </a:rPr>
                        <a:t>TAFI DEL VALLE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>
                          <a:effectLst/>
                        </a:rPr>
                        <a:t>65%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-21%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876179311"/>
                  </a:ext>
                </a:extLst>
              </a:tr>
              <a:tr h="529518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300" b="1" u="none" strike="noStrike">
                          <a:effectLst/>
                        </a:rPr>
                        <a:t>SAN PEDRO DE COLALAO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17%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-2%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799350582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300" b="1" u="none" strike="noStrike">
                          <a:effectLst/>
                        </a:rPr>
                        <a:t>SAN JAVIER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>
                          <a:effectLst/>
                        </a:rPr>
                        <a:t>52%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7%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610273629"/>
                  </a:ext>
                </a:extLst>
              </a:tr>
              <a:tr h="529518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300" b="1" u="none" strike="noStrike">
                          <a:effectLst/>
                        </a:rPr>
                        <a:t>YERBA BUENA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77%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>
                          <a:effectLst/>
                        </a:rPr>
                        <a:t>-12%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367807141"/>
                  </a:ext>
                </a:extLst>
              </a:tr>
              <a:tr h="2383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EL CADILLAL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60%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>
                          <a:effectLst/>
                        </a:rPr>
                        <a:t>-17%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104673029"/>
                  </a:ext>
                </a:extLst>
              </a:tr>
              <a:tr h="2383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>
                          <a:effectLst/>
                        </a:rPr>
                        <a:t>TAFI VIEJO</a:t>
                      </a:r>
                      <a:endParaRPr lang="es-E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>
                          <a:effectLst/>
                        </a:rPr>
                        <a:t>56%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300" b="1" u="none" strike="noStrike" dirty="0">
                          <a:effectLst/>
                        </a:rPr>
                        <a:t>-12%</a:t>
                      </a:r>
                      <a:endParaRPr lang="es-E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545481579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531928" y="5394814"/>
            <a:ext cx="1524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*Puntos porcentuales</a:t>
            </a:r>
            <a:endParaRPr lang="es-AR" sz="1050" dirty="0"/>
          </a:p>
        </p:txBody>
      </p:sp>
    </p:spTree>
    <p:extLst>
      <p:ext uri="{BB962C8B-B14F-4D97-AF65-F5344CB8AC3E}">
        <p14:creationId xmlns:p14="http://schemas.microsoft.com/office/powerpoint/2010/main" val="256680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/>
          <p:cNvSpPr txBox="1">
            <a:spLocks/>
          </p:cNvSpPr>
          <p:nvPr/>
        </p:nvSpPr>
        <p:spPr>
          <a:xfrm>
            <a:off x="251520" y="152718"/>
            <a:ext cx="8483110" cy="8280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 smtClean="0"/>
              <a:t>Pernoctaciones, turistas e impacto económico</a:t>
            </a:r>
            <a:r>
              <a:rPr lang="es-ES" sz="3000" dirty="0" smtClean="0"/>
              <a:t/>
            </a:r>
            <a:br>
              <a:rPr lang="es-ES" sz="3000" dirty="0" smtClean="0"/>
            </a:br>
            <a:r>
              <a:rPr lang="es-ES" sz="3000" dirty="0" smtClean="0"/>
              <a:t>INVIERNO 2024</a:t>
            </a:r>
            <a:endParaRPr lang="es-AR" sz="3000" dirty="0"/>
          </a:p>
        </p:txBody>
      </p:sp>
      <p:graphicFrame>
        <p:nvGraphicFramePr>
          <p:cNvPr id="11" name="1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06120"/>
              </p:ext>
            </p:extLst>
          </p:nvPr>
        </p:nvGraphicFramePr>
        <p:xfrm>
          <a:off x="539552" y="1108146"/>
          <a:ext cx="4680520" cy="302801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3506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454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09888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Movimiento</a:t>
                      </a:r>
                      <a:r>
                        <a:rPr lang="es-AR" sz="1400" b="1" u="none" strike="noStrike" baseline="0" dirty="0">
                          <a:effectLst/>
                        </a:rPr>
                        <a:t> </a:t>
                      </a:r>
                      <a:r>
                        <a:rPr lang="es-AR" sz="1400" b="1" u="none" strike="noStrike" dirty="0">
                          <a:effectLst/>
                        </a:rPr>
                        <a:t>Turístico Invierno  2024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988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 dirty="0">
                          <a:effectLst/>
                        </a:rPr>
                        <a:t>Pernoctaciones en hoteles y </a:t>
                      </a:r>
                      <a:r>
                        <a:rPr lang="es-ES" sz="1400" b="1" u="none" strike="noStrike" dirty="0" err="1">
                          <a:effectLst/>
                        </a:rPr>
                        <a:t>parahoteles</a:t>
                      </a:r>
                      <a:r>
                        <a:rPr lang="es-ES" sz="1400" b="1" u="none" strike="noStrike" dirty="0">
                          <a:effectLst/>
                        </a:rPr>
                        <a:t> 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130.172</a:t>
                      </a:r>
                      <a:endParaRPr lang="es-ES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9888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>
                          <a:effectLst/>
                        </a:rPr>
                        <a:t>Pernoctaciones en casa de Familia y amigos</a:t>
                      </a:r>
                      <a:endParaRPr lang="es-E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104.138</a:t>
                      </a:r>
                      <a:endParaRPr lang="es-ES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60359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>
                          <a:effectLst/>
                        </a:rPr>
                        <a:t>Pernoctaciones en establecimientos extrahoteleros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56.350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8998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 err="1">
                          <a:effectLst/>
                        </a:rPr>
                        <a:t>Tolal</a:t>
                      </a:r>
                      <a:r>
                        <a:rPr lang="es-AR" sz="1400" b="1" u="none" strike="noStrike" dirty="0">
                          <a:effectLst/>
                        </a:rPr>
                        <a:t> pernoctaciones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290.659</a:t>
                      </a:r>
                      <a:endParaRPr lang="es-ES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8998"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u="none" strike="noStrike" dirty="0">
                          <a:effectLst/>
                        </a:rPr>
                        <a:t> Cantidad de Turistas 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161.477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409370" y="4240807"/>
            <a:ext cx="481070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El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movimiento de turistas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de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6 al 28 de julio 2024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 en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todas las modalidades de alojamientos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registro una disminución de 17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%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respecto a igual periodo 2023, estimando 291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 mil pernoctaciones </a:t>
            </a:r>
            <a:r>
              <a:rPr lang="es-ES" sz="1600" dirty="0">
                <a:solidFill>
                  <a:schemeClr val="accent5">
                    <a:lumMod val="75000"/>
                  </a:schemeClr>
                </a:solidFill>
              </a:rPr>
              <a:t>y 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</a:rPr>
              <a:t>161 mil turistas</a:t>
            </a:r>
            <a:endParaRPr lang="es-E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3" name="1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973687"/>
              </p:ext>
            </p:extLst>
          </p:nvPr>
        </p:nvGraphicFramePr>
        <p:xfrm>
          <a:off x="5595210" y="3047860"/>
          <a:ext cx="3294111" cy="1456323"/>
        </p:xfrm>
        <a:graphic>
          <a:graphicData uri="http://schemas.openxmlformats.org/drawingml/2006/table">
            <a:tbl>
              <a:tblPr lastRow="1">
                <a:tableStyleId>{00A15C55-8517-42AA-B614-E9B94910E393}</a:tableStyleId>
              </a:tblPr>
              <a:tblGrid>
                <a:gridCol w="32941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534303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u="none" strike="noStrike" dirty="0">
                          <a:effectLst/>
                        </a:rPr>
                        <a:t>Impacto económico*</a:t>
                      </a:r>
                      <a:endParaRPr lang="es-A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1361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2000" u="none" strike="noStrike" dirty="0" smtClean="0">
                        <a:effectLst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u="none" strike="noStrike" dirty="0" smtClean="0">
                          <a:effectLst/>
                        </a:rPr>
                        <a:t>$ 15.543.336.300 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13 CuadroTexto"/>
          <p:cNvSpPr txBox="1"/>
          <p:nvPr/>
        </p:nvSpPr>
        <p:spPr>
          <a:xfrm>
            <a:off x="5652120" y="4687369"/>
            <a:ext cx="324036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200" b="1" dirty="0">
                <a:solidFill>
                  <a:sysClr val="windowText" lastClr="000000"/>
                </a:solidFill>
              </a:rPr>
              <a:t>* Impacto económico generado por turistas alojados en todas las modalidades de alojamiento, </a:t>
            </a:r>
          </a:p>
        </p:txBody>
      </p:sp>
      <p:sp>
        <p:nvSpPr>
          <p:cNvPr id="15" name="CuadroTexto 18">
            <a:extLst>
              <a:ext uri="{FF2B5EF4-FFF2-40B4-BE49-F238E27FC236}">
                <a16:creationId xmlns="" xmlns:a16="http://schemas.microsoft.com/office/drawing/2014/main" id="{96F6A161-F8E1-6E45-9122-91E71F35CA40}"/>
              </a:ext>
            </a:extLst>
          </p:cNvPr>
          <p:cNvSpPr txBox="1"/>
          <p:nvPr/>
        </p:nvSpPr>
        <p:spPr>
          <a:xfrm>
            <a:off x="538655" y="5722442"/>
            <a:ext cx="4465393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1800" b="1" i="0" u="none" strike="noStrike" dirty="0">
                <a:solidFill>
                  <a:schemeClr val="accent5"/>
                </a:solidFill>
                <a:effectLst/>
                <a:latin typeface="Calibri" panose="020F0502020204030204" pitchFamily="34" charset="0"/>
              </a:rPr>
              <a:t>LA ESTADIA PROMEDIO REGISTRADA FUE </a:t>
            </a:r>
            <a:endParaRPr lang="es-ES" b="1" dirty="0">
              <a:solidFill>
                <a:schemeClr val="accent5"/>
              </a:solidFill>
            </a:endParaRPr>
          </a:p>
          <a:p>
            <a:pPr algn="ctr"/>
            <a:r>
              <a:rPr lang="es-ES" sz="2400" b="1" i="0" u="none" strike="noStrike" dirty="0">
                <a:effectLst/>
                <a:latin typeface="Calibri" panose="020F0502020204030204" pitchFamily="34" charset="0"/>
              </a:rPr>
              <a:t>2,4 NOCHES</a:t>
            </a:r>
            <a:r>
              <a:rPr lang="es-ES" sz="2400" b="1" dirty="0"/>
              <a:t> </a:t>
            </a:r>
          </a:p>
        </p:txBody>
      </p:sp>
      <p:sp>
        <p:nvSpPr>
          <p:cNvPr id="16" name="CuadroTexto 19">
            <a:extLst>
              <a:ext uri="{FF2B5EF4-FFF2-40B4-BE49-F238E27FC236}">
                <a16:creationId xmlns="" xmlns:a16="http://schemas.microsoft.com/office/drawing/2014/main" id="{610DE88C-607D-7D19-33CC-5DD5C01A6044}"/>
              </a:ext>
            </a:extLst>
          </p:cNvPr>
          <p:cNvSpPr txBox="1"/>
          <p:nvPr/>
        </p:nvSpPr>
        <p:spPr>
          <a:xfrm>
            <a:off x="5749903" y="1367963"/>
            <a:ext cx="2984727" cy="1292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rPr>
              <a:t>En cuanto al gasto al </a:t>
            </a:r>
            <a:r>
              <a:rPr lang="es-ES" sz="1800" b="1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GASTO PROMEDIO DIARIO POR PERSONA estimado rondo:</a:t>
            </a:r>
            <a:endParaRPr lang="es-ES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s-ES" sz="2400" b="1" dirty="0">
                <a:latin typeface="Calibri" panose="020F0502020204030204" pitchFamily="34" charset="0"/>
              </a:rPr>
              <a:t>$ 61.000 pesos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570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Esenc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enc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736</TotalTime>
  <Words>1316</Words>
  <Application>Microsoft Office PowerPoint</Application>
  <PresentationFormat>Presentación en pantalla (4:3)</PresentationFormat>
  <Paragraphs>107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Esencial</vt:lpstr>
      <vt:lpstr>Balance  Invierno  2024</vt:lpstr>
      <vt:lpstr>PERFIL DE LOS TURISTAS INVIERNO 2024</vt:lpstr>
      <vt:lpstr>PERFIL DE LOS TURISTAS INVIERNO 2024</vt:lpstr>
      <vt:lpstr>PERFIL DE LOS TURISTAS INVIERNO 2024</vt:lpstr>
      <vt:lpstr>PERFIL DE LOS TURISTAS INVIERNO 2024</vt:lpstr>
      <vt:lpstr>PERFIL DE LOS TURISTAS INVIERNO 2024</vt:lpstr>
      <vt:lpstr>PERFIL DE LOS TURISTAS INVIERNO 2024</vt:lpstr>
      <vt:lpstr>PERFIL DE LOS TURISTAS INVIERNO 2024</vt:lpstr>
      <vt:lpstr>PERFIL DE LOS TURISTAS INVIERNO 2024</vt:lpstr>
      <vt:lpstr>Ocupacion hotelera y parahotelera INVIERNO 2024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74</cp:revision>
  <dcterms:created xsi:type="dcterms:W3CDTF">2023-07-27T15:28:45Z</dcterms:created>
  <dcterms:modified xsi:type="dcterms:W3CDTF">2024-07-29T18:25:20Z</dcterms:modified>
</cp:coreProperties>
</file>