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523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ompartida\4_TEMPORADAS%20-%20PERFILES\TEMPORADAS\invierno\INVIERNO%202023\totales%20perfil_smt_tafi_spc%20_inv2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ompartida\4_TEMPORADAS%20-%20PERFILES\TEMPORADAS\invierno\INVIERNO%202023\totales%20perfil_smt_tafi_spc%20_inv23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ompartida\4_TEMPORADAS%20-%20PERFILES\TEMPORADAS\invierno\INVIERNO%202023\totales%20perfil_smt_tafi_spc%20_inv23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ompartida\4_TEMPORADAS%20-%20PERFILES\TEMPORADAS\invierno\INVIERNO%202023\totales%20perfil_smt_tafi_spc%20_inv23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Compartida\4_TEMPORADAS%20-%20PERFILES\TEMPORADAS\invierno\INVIERNO%202023\totales%20perfil_smt_tafi_spc%20_inv23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'tabla totales'!$W$11</c:f>
              <c:strCache>
                <c:ptCount val="1"/>
                <c:pt idx="0">
                  <c:v>TUCUMAN</c:v>
                </c:pt>
              </c:strCache>
            </c:strRef>
          </c:tx>
          <c:invertIfNegative val="0"/>
          <c:dLbls>
            <c:numFmt formatCode="0%" sourceLinked="0"/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'tabla totales'!$V$12:$V$31</c:f>
              <c:strCache>
                <c:ptCount val="20"/>
                <c:pt idx="0">
                  <c:v>BS AS</c:v>
                </c:pt>
                <c:pt idx="1">
                  <c:v>CORDOBA</c:v>
                </c:pt>
                <c:pt idx="2">
                  <c:v>SANTA FE</c:v>
                </c:pt>
                <c:pt idx="3">
                  <c:v>TUCUMAN</c:v>
                </c:pt>
                <c:pt idx="4">
                  <c:v>SANTIAGO DEL ESTERO</c:v>
                </c:pt>
                <c:pt idx="5">
                  <c:v>SALTA</c:v>
                </c:pt>
                <c:pt idx="6">
                  <c:v>MENDOZA</c:v>
                </c:pt>
                <c:pt idx="7">
                  <c:v>ENTRE RIOS</c:v>
                </c:pt>
                <c:pt idx="8">
                  <c:v>CATAMARCA</c:v>
                </c:pt>
                <c:pt idx="9">
                  <c:v>JUJUY</c:v>
                </c:pt>
                <c:pt idx="10">
                  <c:v>CHACO</c:v>
                </c:pt>
                <c:pt idx="11">
                  <c:v>SAN JUAN</c:v>
                </c:pt>
                <c:pt idx="12">
                  <c:v>MISIONES</c:v>
                </c:pt>
                <c:pt idx="13">
                  <c:v>LA RIOJA</c:v>
                </c:pt>
                <c:pt idx="14">
                  <c:v>SAN LUIS</c:v>
                </c:pt>
                <c:pt idx="15">
                  <c:v>CORRIENTES </c:v>
                </c:pt>
                <c:pt idx="16">
                  <c:v>LA PAMPA</c:v>
                </c:pt>
                <c:pt idx="17">
                  <c:v>RIO NEGRO</c:v>
                </c:pt>
                <c:pt idx="18">
                  <c:v>RESTO DEL PAIS</c:v>
                </c:pt>
                <c:pt idx="19">
                  <c:v>EXTRANJEROS</c:v>
                </c:pt>
              </c:strCache>
            </c:strRef>
          </c:cat>
          <c:val>
            <c:numRef>
              <c:f>'tabla totales'!$W$12:$W$31</c:f>
              <c:numCache>
                <c:formatCode>0.0%</c:formatCode>
                <c:ptCount val="20"/>
                <c:pt idx="0">
                  <c:v>0.25333333333333324</c:v>
                </c:pt>
                <c:pt idx="1">
                  <c:v>0.14424242424242437</c:v>
                </c:pt>
                <c:pt idx="2">
                  <c:v>8.8484848484848541E-2</c:v>
                </c:pt>
                <c:pt idx="3">
                  <c:v>8.7272727272727224E-2</c:v>
                </c:pt>
                <c:pt idx="4">
                  <c:v>7.3939393939393971E-2</c:v>
                </c:pt>
                <c:pt idx="5">
                  <c:v>6.9090909090909119E-2</c:v>
                </c:pt>
                <c:pt idx="6">
                  <c:v>6.0606060606060622E-2</c:v>
                </c:pt>
                <c:pt idx="7">
                  <c:v>3.6363636363636362E-2</c:v>
                </c:pt>
                <c:pt idx="8">
                  <c:v>2.9090909090909091E-2</c:v>
                </c:pt>
                <c:pt idx="9">
                  <c:v>2.6666666666666672E-2</c:v>
                </c:pt>
                <c:pt idx="10">
                  <c:v>2.4242424242424232E-2</c:v>
                </c:pt>
                <c:pt idx="11">
                  <c:v>2.181818181818182E-2</c:v>
                </c:pt>
                <c:pt idx="12">
                  <c:v>1.2121212121212118E-2</c:v>
                </c:pt>
                <c:pt idx="13">
                  <c:v>1.090909090909091E-2</c:v>
                </c:pt>
                <c:pt idx="14">
                  <c:v>1.090909090909091E-2</c:v>
                </c:pt>
                <c:pt idx="15">
                  <c:v>9.6969696969697022E-3</c:v>
                </c:pt>
                <c:pt idx="16">
                  <c:v>9.6969696969697022E-3</c:v>
                </c:pt>
                <c:pt idx="17">
                  <c:v>7.2727272727272745E-3</c:v>
                </c:pt>
                <c:pt idx="18">
                  <c:v>1.2999999999999998E-2</c:v>
                </c:pt>
                <c:pt idx="19">
                  <c:v>1.0999999999999998E-2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70522880"/>
        <c:axId val="151920640"/>
      </c:barChart>
      <c:catAx>
        <c:axId val="17052288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s-AR"/>
          </a:p>
        </c:txPr>
        <c:crossAx val="151920640"/>
        <c:crosses val="autoZero"/>
        <c:auto val="1"/>
        <c:lblAlgn val="ctr"/>
        <c:lblOffset val="100"/>
        <c:noMultiLvlLbl val="0"/>
      </c:catAx>
      <c:valAx>
        <c:axId val="151920640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7052288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'tabla para envio'!$G$50</c:f>
              <c:strCache>
                <c:ptCount val="1"/>
                <c:pt idx="0">
                  <c:v>TUCUMAN</c:v>
                </c:pt>
              </c:strCache>
            </c:strRef>
          </c:tx>
          <c:invertIfNegative val="0"/>
          <c:cat>
            <c:strRef>
              <c:f>'tabla para envio'!$F$51:$F$59</c:f>
              <c:strCache>
                <c:ptCount val="9"/>
                <c:pt idx="0">
                  <c:v>Ocio/Descanso /Vacaciones</c:v>
                </c:pt>
                <c:pt idx="1">
                  <c:v>Negocio/Trabajo</c:v>
                </c:pt>
                <c:pt idx="2">
                  <c:v> Visita a familiares o amigos</c:v>
                </c:pt>
                <c:pt idx="3">
                  <c:v>Act. propuestas/Oferta</c:v>
                </c:pt>
                <c:pt idx="4">
                  <c:v>Paisajes/Naturaleza</c:v>
                </c:pt>
                <c:pt idx="5">
                  <c:v>Visitas previas</c:v>
                </c:pt>
                <c:pt idx="6">
                  <c:v>Patrimonio cult./His.</c:v>
                </c:pt>
                <c:pt idx="7">
                  <c:v>Tratamiento salud</c:v>
                </c:pt>
                <c:pt idx="8">
                  <c:v>Precio</c:v>
                </c:pt>
              </c:strCache>
            </c:strRef>
          </c:cat>
          <c:val>
            <c:numRef>
              <c:f>'tabla para envio'!$G$51:$G$59</c:f>
              <c:numCache>
                <c:formatCode>0%</c:formatCode>
                <c:ptCount val="9"/>
                <c:pt idx="0">
                  <c:v>0.69682151589242092</c:v>
                </c:pt>
                <c:pt idx="1">
                  <c:v>0.12102689486552567</c:v>
                </c:pt>
                <c:pt idx="2">
                  <c:v>5.378973105134479E-2</c:v>
                </c:pt>
                <c:pt idx="3">
                  <c:v>3.7897310513447462E-2</c:v>
                </c:pt>
                <c:pt idx="4">
                  <c:v>3.5452322738386312E-2</c:v>
                </c:pt>
                <c:pt idx="5">
                  <c:v>2.200488997555014E-2</c:v>
                </c:pt>
                <c:pt idx="6">
                  <c:v>1.4669926650366752E-2</c:v>
                </c:pt>
                <c:pt idx="7">
                  <c:v>8.5574572127139481E-3</c:v>
                </c:pt>
                <c:pt idx="8">
                  <c:v>6.1124694376528139E-3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70445824"/>
        <c:axId val="152613632"/>
      </c:barChart>
      <c:catAx>
        <c:axId val="170445824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/>
            </a:pPr>
            <a:endParaRPr lang="es-AR"/>
          </a:p>
        </c:txPr>
        <c:crossAx val="152613632"/>
        <c:crosses val="autoZero"/>
        <c:auto val="1"/>
        <c:lblAlgn val="ctr"/>
        <c:lblOffset val="100"/>
        <c:noMultiLvlLbl val="0"/>
      </c:catAx>
      <c:valAx>
        <c:axId val="152613632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7044582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'tabla para envio'!$G$74</c:f>
              <c:strCache>
                <c:ptCount val="1"/>
                <c:pt idx="0">
                  <c:v>TUCUMAN</c:v>
                </c:pt>
              </c:strCache>
            </c:strRef>
          </c:tx>
          <c:dLbls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'tabla para envio'!$F$75:$F$79</c:f>
              <c:strCache>
                <c:ptCount val="5"/>
                <c:pt idx="0">
                  <c:v>Pareja/Novio</c:v>
                </c:pt>
                <c:pt idx="1">
                  <c:v>Familia</c:v>
                </c:pt>
                <c:pt idx="2">
                  <c:v>Amigos</c:v>
                </c:pt>
                <c:pt idx="3">
                  <c:v>Colegas</c:v>
                </c:pt>
                <c:pt idx="4">
                  <c:v>Solo</c:v>
                </c:pt>
              </c:strCache>
            </c:strRef>
          </c:cat>
          <c:val>
            <c:numRef>
              <c:f>'tabla para envio'!$G$75:$G$79</c:f>
              <c:numCache>
                <c:formatCode>0%</c:formatCode>
                <c:ptCount val="5"/>
                <c:pt idx="0">
                  <c:v>0.25480769230769246</c:v>
                </c:pt>
                <c:pt idx="1">
                  <c:v>0.47355769230769246</c:v>
                </c:pt>
                <c:pt idx="2">
                  <c:v>8.7740384615384609E-2</c:v>
                </c:pt>
                <c:pt idx="3">
                  <c:v>5.2884615384615398E-2</c:v>
                </c:pt>
                <c:pt idx="4">
                  <c:v>0.13100961538461534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'tabla para envio'!$G$85</c:f>
              <c:strCache>
                <c:ptCount val="1"/>
                <c:pt idx="0">
                  <c:v>TUCUMAN</c:v>
                </c:pt>
              </c:strCache>
            </c:strRef>
          </c:tx>
          <c:dLbls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'tabla para envio'!$F$86:$F$89</c:f>
              <c:strCache>
                <c:ptCount val="4"/>
                <c:pt idx="0">
                  <c:v>menos de 20</c:v>
                </c:pt>
                <c:pt idx="1">
                  <c:v>entre 20 y 40 años</c:v>
                </c:pt>
                <c:pt idx="2">
                  <c:v>entre 40 y 60 años</c:v>
                </c:pt>
                <c:pt idx="3">
                  <c:v>mas de 60 años</c:v>
                </c:pt>
              </c:strCache>
            </c:strRef>
          </c:cat>
          <c:val>
            <c:numRef>
              <c:f>'tabla para envio'!$G$86:$G$89</c:f>
              <c:numCache>
                <c:formatCode>0%</c:formatCode>
                <c:ptCount val="4"/>
                <c:pt idx="0">
                  <c:v>0.22788203753351208</c:v>
                </c:pt>
                <c:pt idx="1">
                  <c:v>0.29401251117068833</c:v>
                </c:pt>
                <c:pt idx="2">
                  <c:v>0.39320822162645236</c:v>
                </c:pt>
                <c:pt idx="3">
                  <c:v>8.4897229669347665E-2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'tabla para envio'!$G$101</c:f>
              <c:strCache>
                <c:ptCount val="1"/>
                <c:pt idx="0">
                  <c:v>TUCUMAN</c:v>
                </c:pt>
              </c:strCache>
            </c:strRef>
          </c:tx>
          <c:invertIfNegative val="0"/>
          <c:cat>
            <c:strRef>
              <c:f>'tabla para envio'!$F$102:$F$106</c:f>
              <c:strCache>
                <c:ptCount val="5"/>
                <c:pt idx="0">
                  <c:v>No planificó/ mismo día</c:v>
                </c:pt>
                <c:pt idx="1">
                  <c:v>Menos de una semana</c:v>
                </c:pt>
                <c:pt idx="2">
                  <c:v>Entre una semana y un mes</c:v>
                </c:pt>
                <c:pt idx="3">
                  <c:v>Más de un mes y hasta 6</c:v>
                </c:pt>
                <c:pt idx="4">
                  <c:v>Más de 6 meses</c:v>
                </c:pt>
              </c:strCache>
            </c:strRef>
          </c:cat>
          <c:val>
            <c:numRef>
              <c:f>'tabla para envio'!$G$102:$G$106</c:f>
              <c:numCache>
                <c:formatCode>0%</c:formatCode>
                <c:ptCount val="5"/>
                <c:pt idx="0">
                  <c:v>3.6585365853658548E-2</c:v>
                </c:pt>
                <c:pt idx="1">
                  <c:v>0.16707317073170733</c:v>
                </c:pt>
                <c:pt idx="2">
                  <c:v>0.52195121951219536</c:v>
                </c:pt>
                <c:pt idx="3">
                  <c:v>0.25365853658536575</c:v>
                </c:pt>
                <c:pt idx="4">
                  <c:v>2.0731707317073193E-2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2907136"/>
        <c:axId val="152933504"/>
      </c:barChart>
      <c:catAx>
        <c:axId val="152907136"/>
        <c:scaling>
          <c:orientation val="minMax"/>
        </c:scaling>
        <c:delete val="0"/>
        <c:axPos val="b"/>
        <c:majorTickMark val="out"/>
        <c:minorTickMark val="none"/>
        <c:tickLblPos val="nextTo"/>
        <c:crossAx val="152933504"/>
        <c:crosses val="autoZero"/>
        <c:auto val="1"/>
        <c:lblAlgn val="ctr"/>
        <c:lblOffset val="100"/>
        <c:noMultiLvlLbl val="0"/>
      </c:catAx>
      <c:valAx>
        <c:axId val="1529335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9071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'tabla para envio'!$G$117</c:f>
              <c:strCache>
                <c:ptCount val="1"/>
                <c:pt idx="0">
                  <c:v>TUCUMAN</c:v>
                </c:pt>
              </c:strCache>
            </c:strRef>
          </c:tx>
          <c:dLbls>
            <c:txPr>
              <a:bodyPr/>
              <a:lstStyle/>
              <a:p>
                <a:pPr>
                  <a:defRPr sz="900" b="1"/>
                </a:pPr>
                <a:endParaRPr lang="es-A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'tabla para envio'!$F$118:$F$123</c:f>
              <c:strCache>
                <c:ptCount val="6"/>
                <c:pt idx="0">
                  <c:v>Páginas de internet</c:v>
                </c:pt>
                <c:pt idx="1">
                  <c:v>Agencia de turismo</c:v>
                </c:pt>
                <c:pt idx="2">
                  <c:v>Flia/Amigos</c:v>
                </c:pt>
                <c:pt idx="3">
                  <c:v>Ofi informes</c:v>
                </c:pt>
                <c:pt idx="4">
                  <c:v>Visitas previas</c:v>
                </c:pt>
                <c:pt idx="5">
                  <c:v>Prensa oral y escrita</c:v>
                </c:pt>
              </c:strCache>
            </c:strRef>
          </c:cat>
          <c:val>
            <c:numRef>
              <c:f>'tabla para envio'!$G$118:$G$123</c:f>
              <c:numCache>
                <c:formatCode>0%</c:formatCode>
                <c:ptCount val="6"/>
                <c:pt idx="0">
                  <c:v>0.54927536231884078</c:v>
                </c:pt>
                <c:pt idx="1">
                  <c:v>0.20434782608695654</c:v>
                </c:pt>
                <c:pt idx="2">
                  <c:v>9.710144927536235E-2</c:v>
                </c:pt>
                <c:pt idx="3">
                  <c:v>7.9710144927536281E-2</c:v>
                </c:pt>
                <c:pt idx="4">
                  <c:v>6.2318840579710162E-2</c:v>
                </c:pt>
                <c:pt idx="5">
                  <c:v>5.7971014492753624E-3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'tabla para envio'!$G$131</c:f>
              <c:strCache>
                <c:ptCount val="1"/>
                <c:pt idx="0">
                  <c:v>TUCUMAN</c:v>
                </c:pt>
              </c:strCache>
            </c:strRef>
          </c:tx>
          <c:dLbls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'tabla para envio'!$F$132:$F$136</c:f>
              <c:strCache>
                <c:ptCount val="5"/>
                <c:pt idx="0">
                  <c:v>Sitios web oficiales</c:v>
                </c:pt>
                <c:pt idx="1">
                  <c:v>Instagram</c:v>
                </c:pt>
                <c:pt idx="2">
                  <c:v>Buscadores online </c:v>
                </c:pt>
                <c:pt idx="3">
                  <c:v>Facebook</c:v>
                </c:pt>
                <c:pt idx="4">
                  <c:v>Twitter</c:v>
                </c:pt>
              </c:strCache>
            </c:strRef>
          </c:cat>
          <c:val>
            <c:numRef>
              <c:f>'tabla para envio'!$G$132:$G$136</c:f>
              <c:numCache>
                <c:formatCode>0%</c:formatCode>
                <c:ptCount val="5"/>
                <c:pt idx="0">
                  <c:v>0.61440677966101698</c:v>
                </c:pt>
                <c:pt idx="1">
                  <c:v>0.16949152542372881</c:v>
                </c:pt>
                <c:pt idx="2">
                  <c:v>0.10593220338983053</c:v>
                </c:pt>
                <c:pt idx="3">
                  <c:v>9.5338983050847467E-2</c:v>
                </c:pt>
                <c:pt idx="4">
                  <c:v>1.4830508474576273E-2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'tabla para envio'!$G$166</c:f>
              <c:strCache>
                <c:ptCount val="1"/>
                <c:pt idx="0">
                  <c:v>TUCUMAN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'tabla para envio'!$F$167:$F$172</c:f>
              <c:strCache>
                <c:ptCount val="6"/>
                <c:pt idx="0">
                  <c:v>Vehículo particular</c:v>
                </c:pt>
                <c:pt idx="1">
                  <c:v>Ómnibus</c:v>
                </c:pt>
                <c:pt idx="2">
                  <c:v>Avión</c:v>
                </c:pt>
                <c:pt idx="3">
                  <c:v>Tren</c:v>
                </c:pt>
                <c:pt idx="4">
                  <c:v>Vehículo alquilado</c:v>
                </c:pt>
                <c:pt idx="5">
                  <c:v>Otro</c:v>
                </c:pt>
              </c:strCache>
            </c:strRef>
          </c:cat>
          <c:val>
            <c:numRef>
              <c:f>'tabla para envio'!$G$167:$G$172</c:f>
              <c:numCache>
                <c:formatCode>0%</c:formatCode>
                <c:ptCount val="6"/>
                <c:pt idx="0">
                  <c:v>0.6288156288156288</c:v>
                </c:pt>
                <c:pt idx="1">
                  <c:v>0.22344322344322351</c:v>
                </c:pt>
                <c:pt idx="2">
                  <c:v>9.5238095238095247E-2</c:v>
                </c:pt>
                <c:pt idx="3">
                  <c:v>6.1050061050061085E-3</c:v>
                </c:pt>
                <c:pt idx="4">
                  <c:v>3.7851037851037855E-2</c:v>
                </c:pt>
                <c:pt idx="5">
                  <c:v>8.5470085470085496E-3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29569920"/>
        <c:axId val="129581056"/>
      </c:barChart>
      <c:catAx>
        <c:axId val="129569920"/>
        <c:scaling>
          <c:orientation val="minMax"/>
        </c:scaling>
        <c:delete val="0"/>
        <c:axPos val="b"/>
        <c:majorTickMark val="none"/>
        <c:minorTickMark val="none"/>
        <c:tickLblPos val="nextTo"/>
        <c:crossAx val="129581056"/>
        <c:crosses val="autoZero"/>
        <c:auto val="1"/>
        <c:lblAlgn val="ctr"/>
        <c:lblOffset val="100"/>
        <c:noMultiLvlLbl val="0"/>
      </c:catAx>
      <c:valAx>
        <c:axId val="129581056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2956992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'tabla para envio'!$A$187</c:f>
              <c:strCache>
                <c:ptCount val="1"/>
                <c:pt idx="0">
                  <c:v>Gastronomia</c:v>
                </c:pt>
              </c:strCache>
            </c:strRef>
          </c:tx>
          <c:invertIfNegative val="0"/>
          <c:cat>
            <c:strRef>
              <c:f>'tabla para envio'!$B$186:$D$186</c:f>
              <c:strCache>
                <c:ptCount val="3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</c:strCache>
            </c:strRef>
          </c:cat>
          <c:val>
            <c:numRef>
              <c:f>'tabla para envio'!$B$187:$D$187</c:f>
              <c:numCache>
                <c:formatCode>0%</c:formatCode>
                <c:ptCount val="3"/>
                <c:pt idx="0">
                  <c:v>0.21899252163250391</c:v>
                </c:pt>
                <c:pt idx="1">
                  <c:v>0.26178878272311989</c:v>
                </c:pt>
                <c:pt idx="2">
                  <c:v>0.30840516612868246</c:v>
                </c:pt>
              </c:numCache>
            </c:numRef>
          </c:val>
        </c:ser>
        <c:ser>
          <c:idx val="1"/>
          <c:order val="1"/>
          <c:tx>
            <c:strRef>
              <c:f>'tabla para envio'!$A$188</c:f>
              <c:strCache>
                <c:ptCount val="1"/>
                <c:pt idx="0">
                  <c:v>Alojamiento</c:v>
                </c:pt>
              </c:strCache>
            </c:strRef>
          </c:tx>
          <c:invertIfNegative val="0"/>
          <c:cat>
            <c:strRef>
              <c:f>'tabla para envio'!$B$186:$D$186</c:f>
              <c:strCache>
                <c:ptCount val="3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</c:strCache>
            </c:strRef>
          </c:cat>
          <c:val>
            <c:numRef>
              <c:f>'tabla para envio'!$B$188:$D$188</c:f>
              <c:numCache>
                <c:formatCode>0%</c:formatCode>
                <c:ptCount val="3"/>
                <c:pt idx="0">
                  <c:v>0.59743867652300664</c:v>
                </c:pt>
                <c:pt idx="1">
                  <c:v>0.55088756691365759</c:v>
                </c:pt>
                <c:pt idx="2">
                  <c:v>0.55512929903162822</c:v>
                </c:pt>
              </c:numCache>
            </c:numRef>
          </c:val>
        </c:ser>
        <c:ser>
          <c:idx val="2"/>
          <c:order val="2"/>
          <c:tx>
            <c:strRef>
              <c:f>'tabla para envio'!$A$189</c:f>
              <c:strCache>
                <c:ptCount val="1"/>
                <c:pt idx="0">
                  <c:v>TteInterno</c:v>
                </c:pt>
              </c:strCache>
            </c:strRef>
          </c:tx>
          <c:invertIfNegative val="0"/>
          <c:cat>
            <c:strRef>
              <c:f>'tabla para envio'!$B$186:$D$186</c:f>
              <c:strCache>
                <c:ptCount val="3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</c:strCache>
            </c:strRef>
          </c:cat>
          <c:val>
            <c:numRef>
              <c:f>'tabla para envio'!$B$189:$D$189</c:f>
              <c:numCache>
                <c:formatCode>0%</c:formatCode>
                <c:ptCount val="3"/>
                <c:pt idx="0">
                  <c:v>0.10562759327390685</c:v>
                </c:pt>
                <c:pt idx="1">
                  <c:v>1.8577502587999527E-2</c:v>
                </c:pt>
                <c:pt idx="2">
                  <c:v>3.0646870432116002E-2</c:v>
                </c:pt>
              </c:numCache>
            </c:numRef>
          </c:val>
        </c:ser>
        <c:ser>
          <c:idx val="3"/>
          <c:order val="3"/>
          <c:tx>
            <c:strRef>
              <c:f>'tabla para envio'!$A$190</c:f>
              <c:strCache>
                <c:ptCount val="1"/>
                <c:pt idx="0">
                  <c:v>Excursiones</c:v>
                </c:pt>
              </c:strCache>
            </c:strRef>
          </c:tx>
          <c:invertIfNegative val="0"/>
          <c:cat>
            <c:strRef>
              <c:f>'tabla para envio'!$B$186:$D$186</c:f>
              <c:strCache>
                <c:ptCount val="3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</c:strCache>
            </c:strRef>
          </c:cat>
          <c:val>
            <c:numRef>
              <c:f>'tabla para envio'!$B$190:$D$190</c:f>
              <c:numCache>
                <c:formatCode>0%</c:formatCode>
                <c:ptCount val="3"/>
                <c:pt idx="0">
                  <c:v>2.6114349197089541E-2</c:v>
                </c:pt>
                <c:pt idx="1">
                  <c:v>3.1790581936700868E-2</c:v>
                </c:pt>
                <c:pt idx="2">
                  <c:v>3.1801424536689639E-2</c:v>
                </c:pt>
              </c:numCache>
            </c:numRef>
          </c:val>
        </c:ser>
        <c:ser>
          <c:idx val="4"/>
          <c:order val="4"/>
          <c:tx>
            <c:strRef>
              <c:f>'tabla para envio'!$A$191</c:f>
              <c:strCache>
                <c:ptCount val="1"/>
                <c:pt idx="0">
                  <c:v>Compras Artesanias/Regionales</c:v>
                </c:pt>
              </c:strCache>
            </c:strRef>
          </c:tx>
          <c:invertIfNegative val="0"/>
          <c:cat>
            <c:strRef>
              <c:f>'tabla para envio'!$B$186:$D$186</c:f>
              <c:strCache>
                <c:ptCount val="3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</c:strCache>
            </c:strRef>
          </c:cat>
          <c:val>
            <c:numRef>
              <c:f>'tabla para envio'!$B$191:$D$191</c:f>
              <c:numCache>
                <c:formatCode>0%</c:formatCode>
                <c:ptCount val="3"/>
                <c:pt idx="0">
                  <c:v>5.1826859373493316E-2</c:v>
                </c:pt>
                <c:pt idx="1">
                  <c:v>0.13695556583852214</c:v>
                </c:pt>
                <c:pt idx="2">
                  <c:v>7.4017239870883808E-2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130313600"/>
        <c:axId val="130315392"/>
      </c:barChart>
      <c:catAx>
        <c:axId val="130313600"/>
        <c:scaling>
          <c:orientation val="minMax"/>
        </c:scaling>
        <c:delete val="0"/>
        <c:axPos val="b"/>
        <c:majorTickMark val="none"/>
        <c:minorTickMark val="none"/>
        <c:tickLblPos val="nextTo"/>
        <c:crossAx val="130315392"/>
        <c:crosses val="autoZero"/>
        <c:auto val="1"/>
        <c:lblAlgn val="ctr"/>
        <c:lblOffset val="100"/>
        <c:noMultiLvlLbl val="0"/>
      </c:catAx>
      <c:valAx>
        <c:axId val="130315392"/>
        <c:scaling>
          <c:orientation val="minMax"/>
        </c:scaling>
        <c:delete val="0"/>
        <c:axPos val="l"/>
        <c:majorGridlines/>
        <c:numFmt formatCode="0%" sourceLinked="1"/>
        <c:majorTickMark val="none"/>
        <c:minorTickMark val="none"/>
        <c:tickLblPos val="nextTo"/>
        <c:crossAx val="130313600"/>
        <c:crosses val="autoZero"/>
        <c:crossBetween val="between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b="1"/>
            </a:pPr>
            <a:endParaRPr lang="es-AR"/>
          </a:p>
        </c:txPr>
      </c:dTable>
    </c:plotArea>
    <c:plotVisOnly val="1"/>
    <c:dispBlanksAs val="gap"/>
    <c:showDLblsOverMax val="0"/>
  </c:chart>
  <c:txPr>
    <a:bodyPr/>
    <a:lstStyle/>
    <a:p>
      <a:pPr>
        <a:defRPr sz="900"/>
      </a:pPr>
      <a:endParaRPr lang="es-A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57200" y="1628800"/>
            <a:ext cx="7772400" cy="3171799"/>
          </a:xfrm>
        </p:spPr>
        <p:txBody>
          <a:bodyPr/>
          <a:lstStyle/>
          <a:p>
            <a:r>
              <a:rPr lang="es-ES" sz="4000" dirty="0" smtClean="0"/>
              <a:t>Balance </a:t>
            </a:r>
            <a:br>
              <a:rPr lang="es-ES" sz="4000" dirty="0" smtClean="0"/>
            </a:br>
            <a:r>
              <a:rPr lang="es-ES" sz="4000" dirty="0" smtClean="0"/>
              <a:t>Invierno</a:t>
            </a:r>
            <a:br>
              <a:rPr lang="es-ES" sz="4000" dirty="0" smtClean="0"/>
            </a:br>
            <a:r>
              <a:rPr lang="es-ES" sz="4000" dirty="0" smtClean="0"/>
              <a:t> 2023</a:t>
            </a:r>
            <a:endParaRPr lang="es-AR" sz="4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5">
                    <a:lumMod val="75000"/>
                  </a:schemeClr>
                </a:solidFill>
              </a:rPr>
              <a:t>TUCUMÁN </a:t>
            </a:r>
            <a:endParaRPr lang="es-A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4664"/>
            <a:ext cx="2592288" cy="576064"/>
          </a:xfrm>
          <a:prstGeom prst="rect">
            <a:avLst/>
          </a:prstGeom>
          <a:noFill/>
        </p:spPr>
      </p:pic>
      <p:pic>
        <p:nvPicPr>
          <p:cNvPr id="5" name="1 Imagen" descr="Logo Observatorio sin fond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0232" y="299730"/>
            <a:ext cx="1440160" cy="7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9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sp>
        <p:nvSpPr>
          <p:cNvPr id="4" name="3 Rectángulo"/>
          <p:cNvSpPr/>
          <p:nvPr/>
        </p:nvSpPr>
        <p:spPr>
          <a:xfrm>
            <a:off x="179512" y="2503929"/>
            <a:ext cx="640871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Grafico Nº1: </a:t>
            </a:r>
            <a:r>
              <a:rPr lang="es-ES" sz="1200" b="1" i="1" dirty="0"/>
              <a:t>procedencia de los </a:t>
            </a:r>
            <a:r>
              <a:rPr lang="es-ES" sz="1200" b="1" i="1" dirty="0" smtClean="0"/>
              <a:t>turistas. Tucumán </a:t>
            </a:r>
            <a:r>
              <a:rPr lang="es-ES" sz="1200" b="1" i="1" dirty="0"/>
              <a:t>Invierno 2023. </a:t>
            </a:r>
          </a:p>
        </p:txBody>
      </p:sp>
      <p:graphicFrame>
        <p:nvGraphicFramePr>
          <p:cNvPr id="6" name="5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792192"/>
              </p:ext>
            </p:extLst>
          </p:nvPr>
        </p:nvGraphicFramePr>
        <p:xfrm>
          <a:off x="179513" y="2780928"/>
          <a:ext cx="6408712" cy="3687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6660232" y="3212976"/>
            <a:ext cx="22322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El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98,9%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 de los turistas que visitaron nuestra provincia fueron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argentinos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, siendo el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1,1% extranjero.</a:t>
            </a:r>
          </a:p>
          <a:p>
            <a:pPr algn="ctr"/>
            <a:endParaRPr lang="es-ES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s-ES" sz="1200" dirty="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urante esta temporada invernal se registro un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incremento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 en el movimiento de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turistas provenientes 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de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Santiago del Estero, Córdoba, Salta, Jujuy, Mendoza, Chaco, Entre Ríos, Catamarca, y La Rioja</a:t>
            </a:r>
            <a:endParaRPr lang="es-AR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79512" y="1556792"/>
            <a:ext cx="84249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400" b="1" i="1" dirty="0" smtClean="0">
                <a:solidFill>
                  <a:schemeClr val="accent1">
                    <a:lumMod val="75000"/>
                  </a:schemeClr>
                </a:solidFill>
              </a:rPr>
              <a:t>Durante julio 2023 se realizaron relevamientos estadísticos por medio de encuestas en los principales destinos turísticos de la provincia, a partir de los cuales se obtuvieron los siguientes datos de importancia:</a:t>
            </a:r>
            <a:endParaRPr lang="es-ES" sz="1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99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graphicFrame>
        <p:nvGraphicFramePr>
          <p:cNvPr id="5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112840"/>
              </p:ext>
            </p:extLst>
          </p:nvPr>
        </p:nvGraphicFramePr>
        <p:xfrm>
          <a:off x="251520" y="1905799"/>
          <a:ext cx="5544616" cy="461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2 Rectángulo"/>
          <p:cNvSpPr/>
          <p:nvPr/>
        </p:nvSpPr>
        <p:spPr>
          <a:xfrm>
            <a:off x="251520" y="1628800"/>
            <a:ext cx="554461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nº2:Principal motivo de su visita. Tucumán. Invierno 2023.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988640" y="2149685"/>
            <a:ext cx="28888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itchFamily="2" charset="2"/>
              <a:buChar char="Ø"/>
            </a:pPr>
            <a:r>
              <a:rPr lang="es-ES" b="1" dirty="0" smtClean="0">
                <a:solidFill>
                  <a:schemeClr val="accent5">
                    <a:lumMod val="75000"/>
                  </a:schemeClr>
                </a:solidFill>
              </a:rPr>
              <a:t>48% visito por primera </a:t>
            </a:r>
            <a:r>
              <a:rPr lang="es-ES" dirty="0" smtClean="0">
                <a:solidFill>
                  <a:schemeClr val="accent5">
                    <a:lumMod val="75000"/>
                  </a:schemeClr>
                </a:solidFill>
              </a:rPr>
              <a:t>la provincia, el resto ya la conocía y volvió a elegirla como su destino de viaje.</a:t>
            </a:r>
          </a:p>
          <a:p>
            <a:pPr marL="285750" indent="-285750" algn="ctr">
              <a:buFont typeface="Wingdings" pitchFamily="2" charset="2"/>
              <a:buChar char="Ø"/>
            </a:pPr>
            <a:endParaRPr lang="es-ES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 algn="ctr">
              <a:buFont typeface="Wingdings" pitchFamily="2" charset="2"/>
              <a:buChar char="Ø"/>
            </a:pPr>
            <a:r>
              <a:rPr lang="es-ES" b="1" dirty="0" smtClean="0">
                <a:solidFill>
                  <a:schemeClr val="accent5">
                    <a:lumMod val="75000"/>
                  </a:schemeClr>
                </a:solidFill>
              </a:rPr>
              <a:t>70% de los visitantes vino por vacaciones y descanso</a:t>
            </a:r>
            <a:r>
              <a:rPr lang="es-ES" dirty="0" smtClean="0">
                <a:solidFill>
                  <a:schemeClr val="accent5">
                    <a:lumMod val="75000"/>
                  </a:schemeClr>
                </a:solidFill>
              </a:rPr>
              <a:t>, siendo el segundo motivo mas elegido </a:t>
            </a:r>
            <a:r>
              <a:rPr lang="es-ES" b="1" dirty="0" smtClean="0">
                <a:solidFill>
                  <a:schemeClr val="accent5">
                    <a:lumMod val="75000"/>
                  </a:schemeClr>
                </a:solidFill>
              </a:rPr>
              <a:t>negocios/ trabajo</a:t>
            </a:r>
            <a:r>
              <a:rPr lang="es-ES" dirty="0" smtClean="0">
                <a:solidFill>
                  <a:schemeClr val="accent5">
                    <a:lumMod val="75000"/>
                  </a:schemeClr>
                </a:solidFill>
              </a:rPr>
              <a:t>, seguido por </a:t>
            </a:r>
            <a:r>
              <a:rPr lang="es-ES" b="1" dirty="0" smtClean="0">
                <a:solidFill>
                  <a:schemeClr val="accent5">
                    <a:lumMod val="75000"/>
                  </a:schemeClr>
                </a:solidFill>
              </a:rPr>
              <a:t>visitas a familiares y/amigos.</a:t>
            </a:r>
          </a:p>
          <a:p>
            <a:pPr marL="285750" indent="-285750" algn="ctr">
              <a:buFont typeface="Wingdings" pitchFamily="2" charset="2"/>
              <a:buChar char="Ø"/>
            </a:pPr>
            <a:endParaRPr lang="es-E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21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sp>
        <p:nvSpPr>
          <p:cNvPr id="3" name="2 Rectángulo"/>
          <p:cNvSpPr/>
          <p:nvPr/>
        </p:nvSpPr>
        <p:spPr>
          <a:xfrm>
            <a:off x="251520" y="1884952"/>
            <a:ext cx="417646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Nº3: turistas según con quien viaja. TUCUMAN. Invierno 2023.		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971600" y="5517232"/>
            <a:ext cx="7267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47% de los turistas 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viajo acompañado por sus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familias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y un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26%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con su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pareja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siendo en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grupo promedio 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de viaje 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3,1 personas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predominando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aquellos de entre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40 y 60 años y 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entre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20 y 40.</a:t>
            </a:r>
            <a:endParaRPr lang="es-E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4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331606"/>
              </p:ext>
            </p:extLst>
          </p:nvPr>
        </p:nvGraphicFramePr>
        <p:xfrm>
          <a:off x="165461" y="2291545"/>
          <a:ext cx="4348581" cy="321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5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979376"/>
              </p:ext>
            </p:extLst>
          </p:nvPr>
        </p:nvGraphicFramePr>
        <p:xfrm>
          <a:off x="4806512" y="2204864"/>
          <a:ext cx="4024270" cy="331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8 Rectángulo"/>
          <p:cNvSpPr/>
          <p:nvPr/>
        </p:nvSpPr>
        <p:spPr>
          <a:xfrm>
            <a:off x="4798334" y="1887833"/>
            <a:ext cx="40324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Nº4: turistas según con rango etario. Tucumán. Invierno 2023.		</a:t>
            </a:r>
          </a:p>
        </p:txBody>
      </p:sp>
    </p:spTree>
    <p:extLst>
      <p:ext uri="{BB962C8B-B14F-4D97-AF65-F5344CB8AC3E}">
        <p14:creationId xmlns:p14="http://schemas.microsoft.com/office/powerpoint/2010/main" val="195173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sp>
        <p:nvSpPr>
          <p:cNvPr id="3" name="2 Rectángulo"/>
          <p:cNvSpPr/>
          <p:nvPr/>
        </p:nvSpPr>
        <p:spPr>
          <a:xfrm>
            <a:off x="197452" y="1671731"/>
            <a:ext cx="473458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Nº5: turistas según tiempo de planificación del viaje. Tucumán.  Invierno 2023. 		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83077" y="4204537"/>
            <a:ext cx="48245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En lo que respecta a la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planificación del viaje 13%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 organizo su viaje por medio de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agencias de viaje, 78%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por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cuenta propia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y el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resto utilizando otra modalidad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, programo el mismo principalmente con una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anticipación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 de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1 semana a un mes antes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y mas de un mes hasta 6 meses.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s-ES" sz="14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67%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 de los turistas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obtuvo información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previa al viaje y de los mismos el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55% utilizo internet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recurriendo a sitios oficiales e </a:t>
            </a:r>
            <a:r>
              <a:rPr lang="es-ES" sz="1400" b="1" dirty="0" err="1" smtClean="0">
                <a:solidFill>
                  <a:schemeClr val="accent5">
                    <a:lumMod val="75000"/>
                  </a:schemeClr>
                </a:solidFill>
              </a:rPr>
              <a:t>Instagram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285750" indent="-285750" algn="ctr">
              <a:buFont typeface="Wingdings" pitchFamily="2" charset="2"/>
              <a:buChar char="Ø"/>
            </a:pPr>
            <a:endParaRPr lang="es-ES" sz="14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4932040" y="1185210"/>
            <a:ext cx="38997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Nº6: turistas según fuente de información utilizada. Tucumán.  Invierno 2023.		</a:t>
            </a:r>
          </a:p>
        </p:txBody>
      </p:sp>
      <p:graphicFrame>
        <p:nvGraphicFramePr>
          <p:cNvPr id="10" name="6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2882901"/>
              </p:ext>
            </p:extLst>
          </p:nvPr>
        </p:nvGraphicFramePr>
        <p:xfrm>
          <a:off x="251520" y="2173821"/>
          <a:ext cx="4680520" cy="1960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8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494845"/>
              </p:ext>
            </p:extLst>
          </p:nvPr>
        </p:nvGraphicFramePr>
        <p:xfrm>
          <a:off x="4900551" y="1679844"/>
          <a:ext cx="4032448" cy="2247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9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344914"/>
              </p:ext>
            </p:extLst>
          </p:nvPr>
        </p:nvGraphicFramePr>
        <p:xfrm>
          <a:off x="4968964" y="4226766"/>
          <a:ext cx="4143133" cy="2439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14 Rectángulo"/>
          <p:cNvSpPr/>
          <p:nvPr/>
        </p:nvSpPr>
        <p:spPr>
          <a:xfrm>
            <a:off x="5148063" y="3927538"/>
            <a:ext cx="3784935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Nº7: turistas según sitios web utilizados. </a:t>
            </a:r>
          </a:p>
        </p:txBody>
      </p:sp>
    </p:spTree>
    <p:extLst>
      <p:ext uri="{BB962C8B-B14F-4D97-AF65-F5344CB8AC3E}">
        <p14:creationId xmlns:p14="http://schemas.microsoft.com/office/powerpoint/2010/main" val="125564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sp>
        <p:nvSpPr>
          <p:cNvPr id="7" name="6 CuadroTexto"/>
          <p:cNvSpPr txBox="1"/>
          <p:nvPr/>
        </p:nvSpPr>
        <p:spPr>
          <a:xfrm>
            <a:off x="323527" y="1844824"/>
            <a:ext cx="35283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47%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de los turistas eligieron Tucumán como su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único destino de viaje.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s-ES" sz="1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La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estadía promedio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estimada fue 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2,6 noches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variando en cada destino y registrado la mas elevada en San pedro de </a:t>
            </a:r>
            <a:r>
              <a:rPr lang="es-ES" sz="1600" dirty="0" err="1" smtClean="0">
                <a:solidFill>
                  <a:schemeClr val="accent5">
                    <a:lumMod val="75000"/>
                  </a:schemeClr>
                </a:solidFill>
              </a:rPr>
              <a:t>Colalao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destino en el cual los turistas pernoctaron 3,3 noches.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162416"/>
              </p:ext>
            </p:extLst>
          </p:nvPr>
        </p:nvGraphicFramePr>
        <p:xfrm>
          <a:off x="395536" y="4725144"/>
          <a:ext cx="3554244" cy="648072"/>
        </p:xfrm>
        <a:graphic>
          <a:graphicData uri="http://schemas.openxmlformats.org/drawingml/2006/table">
            <a:tbl>
              <a:tblPr bandCol="1">
                <a:tableStyleId>{FABFCF23-3B69-468F-B69F-88F6DE6A72F2}</a:tableStyleId>
              </a:tblPr>
              <a:tblGrid>
                <a:gridCol w="1184748"/>
                <a:gridCol w="1184748"/>
                <a:gridCol w="1184748"/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 smtClean="0"/>
                        <a:t>Estadía</a:t>
                      </a:r>
                      <a:r>
                        <a:rPr lang="es-ES" sz="1600" b="1" baseline="0" dirty="0" smtClean="0"/>
                        <a:t> promedio</a:t>
                      </a:r>
                      <a:endParaRPr lang="es-AR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smtClean="0"/>
                        <a:t>2,6 </a:t>
                      </a:r>
                    </a:p>
                    <a:p>
                      <a:pPr algn="ctr"/>
                      <a:r>
                        <a:rPr lang="es-ES" sz="1600" dirty="0" smtClean="0"/>
                        <a:t>noches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smtClean="0"/>
                        <a:t>+3%</a:t>
                      </a:r>
                    </a:p>
                    <a:p>
                      <a:pPr algn="ctr"/>
                      <a:r>
                        <a:rPr lang="es-ES" sz="1600" dirty="0" err="1" smtClean="0"/>
                        <a:t>var</a:t>
                      </a:r>
                      <a:r>
                        <a:rPr lang="es-ES" sz="1600" dirty="0" smtClean="0"/>
                        <a:t>.</a:t>
                      </a:r>
                      <a:r>
                        <a:rPr lang="es-ES" sz="1600" baseline="0" dirty="0" smtClean="0"/>
                        <a:t> </a:t>
                      </a:r>
                      <a:r>
                        <a:rPr lang="es-ES" sz="1600" baseline="0" dirty="0" err="1" smtClean="0"/>
                        <a:t>I.a</a:t>
                      </a:r>
                      <a:r>
                        <a:rPr lang="es-ES" sz="1600" baseline="0" dirty="0" smtClean="0"/>
                        <a:t>.</a:t>
                      </a:r>
                      <a:endParaRPr lang="es-AR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10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4048776"/>
              </p:ext>
            </p:extLst>
          </p:nvPr>
        </p:nvGraphicFramePr>
        <p:xfrm>
          <a:off x="4427984" y="1673841"/>
          <a:ext cx="4142900" cy="4203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4 Rectángulo"/>
          <p:cNvSpPr/>
          <p:nvPr/>
        </p:nvSpPr>
        <p:spPr>
          <a:xfrm>
            <a:off x="4427984" y="1190339"/>
            <a:ext cx="418192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Nº8: turistas según medios de trasporte utilizados. Tucumán. Invierno 2023.</a:t>
            </a:r>
            <a:endParaRPr lang="es-AR" sz="1200" b="1" i="1" dirty="0"/>
          </a:p>
        </p:txBody>
      </p:sp>
    </p:spTree>
    <p:extLst>
      <p:ext uri="{BB962C8B-B14F-4D97-AF65-F5344CB8AC3E}">
        <p14:creationId xmlns:p14="http://schemas.microsoft.com/office/powerpoint/2010/main" val="208817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sp>
        <p:nvSpPr>
          <p:cNvPr id="5" name="4 Rectángulo"/>
          <p:cNvSpPr/>
          <p:nvPr/>
        </p:nvSpPr>
        <p:spPr>
          <a:xfrm>
            <a:off x="323528" y="1484784"/>
            <a:ext cx="864096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Tabla Nº1, 2, 3: turistas </a:t>
            </a:r>
            <a:r>
              <a:rPr lang="es-ES" sz="1200" b="1" i="1" dirty="0"/>
              <a:t>según actividades realizadas durante </a:t>
            </a:r>
            <a:r>
              <a:rPr lang="es-ES" sz="1200" b="1" i="1" dirty="0" smtClean="0"/>
              <a:t>estadía según el destino. Invierno </a:t>
            </a:r>
            <a:r>
              <a:rPr lang="es-ES" sz="1200" b="1" i="1" dirty="0"/>
              <a:t>2023.</a:t>
            </a:r>
            <a:r>
              <a:rPr lang="es-ES" sz="1200" b="1" i="1" dirty="0">
                <a:solidFill>
                  <a:schemeClr val="accent5">
                    <a:lumMod val="75000"/>
                  </a:schemeClr>
                </a:solidFill>
              </a:rPr>
              <a:t>	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62" y="1764147"/>
            <a:ext cx="4292846" cy="1952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861048"/>
            <a:ext cx="4320480" cy="226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296" y="1761783"/>
            <a:ext cx="4210192" cy="188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08167"/>
              </p:ext>
            </p:extLst>
          </p:nvPr>
        </p:nvGraphicFramePr>
        <p:xfrm>
          <a:off x="5580112" y="3861048"/>
          <a:ext cx="2870837" cy="150884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853507"/>
                <a:gridCol w="1017330"/>
              </a:tblGrid>
              <a:tr h="261505"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smtClean="0"/>
                        <a:t>Julio</a:t>
                      </a:r>
                      <a:r>
                        <a:rPr lang="es-ES" sz="1200" baseline="0" dirty="0" smtClean="0"/>
                        <a:t> 2023*</a:t>
                      </a:r>
                      <a:endParaRPr lang="es-AR" sz="1200" dirty="0"/>
                    </a:p>
                  </a:txBody>
                  <a:tcPr/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 smtClean="0"/>
                        <a:t>Ingresos</a:t>
                      </a:r>
                      <a:r>
                        <a:rPr lang="es-ES" sz="1100" baseline="0" dirty="0" smtClean="0"/>
                        <a:t> a Casa Histórica</a:t>
                      </a:r>
                      <a:endParaRPr lang="es-AR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107.308</a:t>
                      </a:r>
                      <a:endParaRPr lang="es-AR" sz="1600" dirty="0"/>
                    </a:p>
                  </a:txBody>
                  <a:tcPr/>
                </a:tc>
              </a:tr>
              <a:tr h="536753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 smtClean="0"/>
                        <a:t>Ingresos</a:t>
                      </a:r>
                      <a:r>
                        <a:rPr lang="es-ES" sz="1100" baseline="0" dirty="0" smtClean="0"/>
                        <a:t> a Ciudad Sagrada de Quilmes</a:t>
                      </a:r>
                      <a:endParaRPr lang="es-AR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smtClean="0"/>
                        <a:t>26.000</a:t>
                      </a:r>
                      <a:endParaRPr lang="es-AR" sz="1600" dirty="0"/>
                    </a:p>
                  </a:txBody>
                  <a:tcPr/>
                </a:tc>
              </a:tr>
              <a:tr h="319618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 smtClean="0"/>
                        <a:t>Ferias/</a:t>
                      </a:r>
                      <a:r>
                        <a:rPr lang="es-ES" sz="1100" baseline="0" dirty="0" smtClean="0"/>
                        <a:t> eventos</a:t>
                      </a:r>
                      <a:endParaRPr lang="es-AR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smtClean="0"/>
                        <a:t>88.440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4932332" y="5501576"/>
            <a:ext cx="4019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 smtClean="0"/>
              <a:t>*Datos provisorios</a:t>
            </a:r>
          </a:p>
          <a:p>
            <a:r>
              <a:rPr lang="es-ES" sz="1050" b="1" dirty="0" smtClean="0"/>
              <a:t>Fuente: área administrativa de cada entidad </a:t>
            </a:r>
          </a:p>
        </p:txBody>
      </p:sp>
    </p:spTree>
    <p:extLst>
      <p:ext uri="{BB962C8B-B14F-4D97-AF65-F5344CB8AC3E}">
        <p14:creationId xmlns:p14="http://schemas.microsoft.com/office/powerpoint/2010/main" val="21164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116632"/>
            <a:ext cx="8045205" cy="1196752"/>
          </a:xfrm>
        </p:spPr>
        <p:txBody>
          <a:bodyPr>
            <a:normAutofit fontScale="90000"/>
          </a:bodyPr>
          <a:lstStyle/>
          <a:p>
            <a:r>
              <a:rPr lang="es-ES" sz="3000" dirty="0" smtClean="0"/>
              <a:t>PERFIL DE LOS excursionistas </a:t>
            </a:r>
            <a:br>
              <a:rPr lang="es-ES" sz="3000" dirty="0" smtClean="0"/>
            </a:br>
            <a:r>
              <a:rPr lang="es-ES" sz="3000" dirty="0" smtClean="0"/>
              <a:t>CIUDAD </a:t>
            </a:r>
            <a:r>
              <a:rPr lang="es-ES" sz="3000" dirty="0"/>
              <a:t>SAGRADA DE </a:t>
            </a:r>
            <a:r>
              <a:rPr lang="es-ES" sz="3000" dirty="0" smtClean="0"/>
              <a:t>QUILMES</a:t>
            </a:r>
            <a:br>
              <a:rPr lang="es-ES" sz="3000" dirty="0" smtClean="0"/>
            </a:br>
            <a:r>
              <a:rPr lang="es-ES" sz="3000" dirty="0" smtClean="0"/>
              <a:t>INVIERNO 2023</a:t>
            </a:r>
            <a:endParaRPr lang="es-AR" sz="3000" dirty="0"/>
          </a:p>
        </p:txBody>
      </p:sp>
      <p:sp>
        <p:nvSpPr>
          <p:cNvPr id="6" name="5 CuadroTexto"/>
          <p:cNvSpPr txBox="1"/>
          <p:nvPr/>
        </p:nvSpPr>
        <p:spPr>
          <a:xfrm>
            <a:off x="19472" y="1348800"/>
            <a:ext cx="894108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i="1" dirty="0" smtClean="0"/>
              <a:t>Se registraron </a:t>
            </a:r>
            <a:r>
              <a:rPr lang="es-AR" sz="1400" b="1" i="1" dirty="0" smtClean="0"/>
              <a:t>26.000 excursionistas</a:t>
            </a:r>
            <a:r>
              <a:rPr lang="es-AR" sz="1400" i="1" dirty="0" smtClean="0"/>
              <a:t> durante </a:t>
            </a:r>
            <a:r>
              <a:rPr lang="es-AR" sz="1400" b="1" i="1" dirty="0" smtClean="0"/>
              <a:t>julio 2023</a:t>
            </a:r>
            <a:r>
              <a:rPr lang="es-AR" sz="1400" i="1" dirty="0" smtClean="0"/>
              <a:t>, lo cual significó una </a:t>
            </a:r>
            <a:r>
              <a:rPr lang="es-AR" sz="1400" b="1" i="1" dirty="0" smtClean="0"/>
              <a:t>variación positiva del 24% aproximadamente </a:t>
            </a:r>
            <a:r>
              <a:rPr lang="es-AR" sz="1400" i="1" dirty="0" smtClean="0"/>
              <a:t>respecto al mismo período del año anterior.</a:t>
            </a:r>
            <a:endParaRPr lang="es-AR" sz="1400" b="1" i="1" dirty="0" smtClean="0"/>
          </a:p>
          <a:p>
            <a:pPr algn="just"/>
            <a:endParaRPr lang="es-AR" sz="1200" dirty="0" smtClean="0"/>
          </a:p>
          <a:p>
            <a:pPr marL="171450" indent="-171450" algn="just">
              <a:buFont typeface="Wingdings" pitchFamily="2" charset="2"/>
              <a:buChar char="ü"/>
            </a:pPr>
            <a:r>
              <a:rPr lang="es-AR" sz="1200" dirty="0" smtClean="0"/>
              <a:t>La </a:t>
            </a:r>
            <a:r>
              <a:rPr lang="es-AR" sz="1200" dirty="0"/>
              <a:t>composición de los consumidores se define como un grupo promedio de 3,7 turistas, tratándose principalmente de familias (representando un 64% del total), y en segunda escala, de parejas (con un 25%), perteneciendo al rango de edades entre 20 a 60 años (66</a:t>
            </a:r>
            <a:r>
              <a:rPr lang="es-AR" sz="1200" dirty="0" smtClean="0"/>
              <a:t>%).</a:t>
            </a:r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El </a:t>
            </a:r>
            <a:r>
              <a:rPr lang="es-AR" sz="1200" dirty="0"/>
              <a:t>88% de los visitantes proceden de otras provincias, lo que indica una oferta con mercado nacional. Se destacan en cantidad los turistas de Buenos Aires, Córdoba y Santa fe (con un 39%, 12% y 8% respectivamente</a:t>
            </a:r>
            <a:r>
              <a:rPr lang="es-AR" sz="1200" dirty="0" smtClean="0"/>
              <a:t>).</a:t>
            </a:r>
          </a:p>
          <a:p>
            <a:pPr lvl="1" algn="just"/>
            <a:endParaRPr lang="es-AR" sz="1200" dirty="0"/>
          </a:p>
          <a:p>
            <a:pPr marL="171450" indent="-171450" algn="just">
              <a:buFont typeface="Wingdings" pitchFamily="2" charset="2"/>
              <a:buChar char="ü"/>
            </a:pPr>
            <a:r>
              <a:rPr lang="es-AR" sz="1200" dirty="0" smtClean="0"/>
              <a:t>La </a:t>
            </a:r>
            <a:r>
              <a:rPr lang="es-AR" sz="1200" dirty="0"/>
              <a:t>programación del viaje se encontró determinada por la frecuencia y motivación de visita, tiempo de planificación previa y de estadía, y nivel de </a:t>
            </a:r>
            <a:r>
              <a:rPr lang="es-AR" sz="1200" dirty="0" smtClean="0"/>
              <a:t>gastos.</a:t>
            </a:r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Evaluando </a:t>
            </a:r>
            <a:r>
              <a:rPr lang="es-AR" sz="1200" dirty="0"/>
              <a:t>el comportamiento de consumo, se indicó que las principales (66%) motivaciones de viaje son por conocer la historia del lugar y por disfrutar del paisaje y la naturaleza (36% y 26% respectivamente). </a:t>
            </a:r>
            <a:endParaRPr lang="es-AR" sz="1200" dirty="0" smtClean="0"/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Se </a:t>
            </a:r>
            <a:r>
              <a:rPr lang="es-AR" sz="1200" dirty="0"/>
              <a:t>muestra también que la mayor parte (el 69%) ya visitó con anterioridad el destino, lo que indica satisfacción de </a:t>
            </a:r>
            <a:r>
              <a:rPr lang="es-AR" sz="1200" dirty="0" smtClean="0"/>
              <a:t>consumo.</a:t>
            </a:r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Respecto </a:t>
            </a:r>
            <a:r>
              <a:rPr lang="es-AR" sz="1200" dirty="0"/>
              <a:t>a la metodología adoptada para la programación de viaje, se presenta que el 95% lo realiza de manera particular, sin implicar gastos en agencias turísticas (hecho que permite disminuir los costos del mismo). </a:t>
            </a:r>
            <a:endParaRPr lang="es-AR" sz="1200" dirty="0" smtClean="0"/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 </a:t>
            </a:r>
            <a:r>
              <a:rPr lang="es-AR" sz="1200" dirty="0"/>
              <a:t>Agregamos que la planificación de la visita se divide en dos disparidades, por un lado se observa que el 37% de los excursionistas organiza su visita entre 1 y 6 meses, los cuales son los que más buscan información previa a través de internet (representando el 52% del total), y por otro lado se encuentra el 34% que no planifica su visita, es decir, surge de </a:t>
            </a:r>
            <a:r>
              <a:rPr lang="es-AR" sz="1200" dirty="0" smtClean="0"/>
              <a:t>espontaneidad.</a:t>
            </a:r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Además</a:t>
            </a:r>
            <a:r>
              <a:rPr lang="es-AR" sz="1200" dirty="0"/>
              <a:t>, el 54% de los visitantes opta por recorrer el lugar dentro de un promedio de 2hs </a:t>
            </a:r>
            <a:r>
              <a:rPr lang="es-AR" sz="1200" dirty="0" smtClean="0"/>
              <a:t>aproximadamente.</a:t>
            </a:r>
          </a:p>
          <a:p>
            <a:pPr marL="628650" lvl="1" indent="-171450" algn="just">
              <a:buFont typeface="Wingdings" pitchFamily="2" charset="2"/>
              <a:buChar char="ü"/>
            </a:pPr>
            <a:r>
              <a:rPr lang="es-AR" sz="1200" dirty="0" smtClean="0"/>
              <a:t>En </a:t>
            </a:r>
            <a:r>
              <a:rPr lang="es-AR" sz="1200" dirty="0"/>
              <a:t>cuestiones de gastos, se investigó que el 52% de los visitantes sí consume productos elaborados en los comercios del </a:t>
            </a:r>
            <a:r>
              <a:rPr lang="es-AR" sz="1200" dirty="0" smtClean="0"/>
              <a:t>lugar </a:t>
            </a:r>
            <a:r>
              <a:rPr lang="es-AR" sz="1200" dirty="0"/>
              <a:t>(las principales compras están destinadas a las artesanías con un 61%, y a la gastronomía con un 36</a:t>
            </a:r>
            <a:r>
              <a:rPr lang="es-AR" sz="1200" dirty="0" smtClean="0"/>
              <a:t>%).</a:t>
            </a:r>
          </a:p>
          <a:p>
            <a:pPr lvl="1" algn="just"/>
            <a:endParaRPr lang="es-AR" sz="1200" dirty="0"/>
          </a:p>
          <a:p>
            <a:pPr marL="171450" indent="-171450" algn="just">
              <a:buFont typeface="Wingdings" pitchFamily="2" charset="2"/>
              <a:buChar char="ü"/>
            </a:pPr>
            <a:r>
              <a:rPr lang="es-AR" sz="1200" dirty="0" smtClean="0"/>
              <a:t>Por </a:t>
            </a:r>
            <a:r>
              <a:rPr lang="es-AR" sz="1200" dirty="0"/>
              <a:t>último, detallamos en grado de satisfacción de la experiencia, el cual fue positivo puesto que el 99% volvería a visitar el destino</a:t>
            </a:r>
            <a:r>
              <a:rPr lang="es-AR" sz="1200" dirty="0" smtClean="0"/>
              <a:t>. </a:t>
            </a:r>
            <a:r>
              <a:rPr lang="es-AR" sz="1200" dirty="0"/>
              <a:t>Consecuentemente, mencionamos que el 96% de las respuestas se encuentran concentradas entre las escalas de “Muy Bueno” y “Bueno”, indicando un alto nivel de valoraciones positivas. </a:t>
            </a:r>
          </a:p>
        </p:txBody>
      </p:sp>
    </p:spTree>
    <p:extLst>
      <p:ext uri="{BB962C8B-B14F-4D97-AF65-F5344CB8AC3E}">
        <p14:creationId xmlns:p14="http://schemas.microsoft.com/office/powerpoint/2010/main" val="11153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2023</a:t>
            </a:r>
            <a:endParaRPr lang="es-AR" sz="3000" dirty="0"/>
          </a:p>
        </p:txBody>
      </p:sp>
      <p:graphicFrame>
        <p:nvGraphicFramePr>
          <p:cNvPr id="11" name="1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540158"/>
              </p:ext>
            </p:extLst>
          </p:nvPr>
        </p:nvGraphicFramePr>
        <p:xfrm>
          <a:off x="1043608" y="3717031"/>
          <a:ext cx="6840760" cy="2980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1 Rectángulo"/>
          <p:cNvSpPr/>
          <p:nvPr/>
        </p:nvSpPr>
        <p:spPr>
          <a:xfrm>
            <a:off x="1043608" y="3428999"/>
            <a:ext cx="684076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Grafico Nº 9: Distribución del gasto promedio por destino destino. Invierno 2023</a:t>
            </a:r>
            <a:r>
              <a:rPr lang="es-ES" sz="1200" b="1" i="1" dirty="0"/>
              <a:t>.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33997"/>
              </p:ext>
            </p:extLst>
          </p:nvPr>
        </p:nvGraphicFramePr>
        <p:xfrm>
          <a:off x="1043608" y="2420888"/>
          <a:ext cx="6696744" cy="68015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96244"/>
                <a:gridCol w="1368152"/>
                <a:gridCol w="1512168"/>
                <a:gridCol w="1620180"/>
              </a:tblGrid>
              <a:tr h="115140">
                <a:tc>
                  <a:txBody>
                    <a:bodyPr/>
                    <a:lstStyle/>
                    <a:p>
                      <a:pPr algn="ctr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SMT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TAFI DEL VALLE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SAN PEDRO DE COLALAO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</a:tr>
              <a:tr h="25906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GASTO PROMEDIO POR DIA POR PERSONA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$ 15.982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$ 15.509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$ 8.106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4797" marR="4797" marT="4797" marB="0" anchor="ctr"/>
                </a:tc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866196"/>
              </p:ext>
            </p:extLst>
          </p:nvPr>
        </p:nvGraphicFramePr>
        <p:xfrm>
          <a:off x="1979712" y="1628800"/>
          <a:ext cx="4824536" cy="411480"/>
        </p:xfrm>
        <a:graphic>
          <a:graphicData uri="http://schemas.openxmlformats.org/drawingml/2006/table">
            <a:tbl>
              <a:tblPr firstCol="1">
                <a:tableStyleId>{EB9631B5-78F2-41C9-869B-9F39066F8104}</a:tableStyleId>
              </a:tblPr>
              <a:tblGrid>
                <a:gridCol w="3125283"/>
                <a:gridCol w="1699253"/>
              </a:tblGrid>
              <a:tr h="41148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 dirty="0">
                          <a:effectLst/>
                        </a:rPr>
                        <a:t>GASTO PROMEDIO DIARIO POR </a:t>
                      </a:r>
                      <a:r>
                        <a:rPr lang="es-AR" sz="1200" u="none" strike="noStrike" dirty="0" smtClean="0">
                          <a:effectLst/>
                        </a:rPr>
                        <a:t>PERSONA PROVINCIAL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1" u="none" strike="noStrike" dirty="0">
                          <a:effectLst/>
                        </a:rPr>
                        <a:t>$ 13.199</a:t>
                      </a: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80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 fontScale="90000"/>
          </a:bodyPr>
          <a:lstStyle/>
          <a:p>
            <a:r>
              <a:rPr lang="es-ES" sz="3000" dirty="0" err="1" smtClean="0"/>
              <a:t>Ocupacion</a:t>
            </a:r>
            <a:r>
              <a:rPr lang="es-ES" sz="3000" dirty="0" smtClean="0"/>
              <a:t> hotelera y </a:t>
            </a:r>
            <a:r>
              <a:rPr lang="es-ES" sz="3000" dirty="0" err="1" smtClean="0"/>
              <a:t>parahotelera</a:t>
            </a:r>
            <a:r>
              <a:rPr lang="es-ES" sz="3000" dirty="0" smtClean="0"/>
              <a:t/>
            </a:r>
            <a:br>
              <a:rPr lang="es-ES" sz="3000" dirty="0" smtClean="0"/>
            </a:br>
            <a:r>
              <a:rPr lang="es-ES" sz="3000" dirty="0" smtClean="0"/>
              <a:t>INVIERNO 2023</a:t>
            </a:r>
            <a:endParaRPr lang="es-AR" sz="3000" dirty="0"/>
          </a:p>
        </p:txBody>
      </p:sp>
      <p:sp>
        <p:nvSpPr>
          <p:cNvPr id="12" name="11 Rectángulo"/>
          <p:cNvSpPr/>
          <p:nvPr/>
        </p:nvSpPr>
        <p:spPr>
          <a:xfrm>
            <a:off x="539552" y="1917778"/>
            <a:ext cx="439248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tabla Nº 4: Promedio de ocupación hotelera y </a:t>
            </a:r>
            <a:r>
              <a:rPr lang="es-ES" sz="1200" b="1" i="1" dirty="0" err="1" smtClean="0"/>
              <a:t>parahotelera</a:t>
            </a:r>
            <a:r>
              <a:rPr lang="es-ES" sz="1200" b="1" i="1" dirty="0" smtClean="0"/>
              <a:t> por destino. Invierno 2023</a:t>
            </a:r>
            <a:r>
              <a:rPr lang="es-ES" sz="1200" b="1" i="1" dirty="0"/>
              <a:t>.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14558"/>
              </p:ext>
            </p:extLst>
          </p:nvPr>
        </p:nvGraphicFramePr>
        <p:xfrm>
          <a:off x="539552" y="2492896"/>
          <a:ext cx="4392488" cy="28083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64079"/>
                <a:gridCol w="1928409"/>
              </a:tblGrid>
              <a:tr h="802809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 smtClean="0">
                          <a:effectLst/>
                        </a:rPr>
                        <a:t>Del 8 al 30 de julio 2023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  <a:tr h="387223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SMT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78%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  <a:tr h="40127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>
                          <a:effectLst/>
                        </a:rPr>
                        <a:t>TAFI DEL VALLE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86%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  <a:tr h="538349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>
                          <a:effectLst/>
                        </a:rPr>
                        <a:t>SAN PEDRO DE COLALAO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47%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  <a:tr h="27388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>
                          <a:effectLst/>
                        </a:rPr>
                        <a:t>SAN JAVIER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53%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  <a:tr h="404769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YERBA BUENA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88%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06" marR="7606" marT="7606" marB="0" anchor="ctr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777284"/>
              </p:ext>
            </p:extLst>
          </p:nvPr>
        </p:nvGraphicFramePr>
        <p:xfrm>
          <a:off x="1619672" y="5470891"/>
          <a:ext cx="2743200" cy="647700"/>
        </p:xfrm>
        <a:graphic>
          <a:graphicData uri="http://schemas.openxmlformats.org/drawingml/2006/table">
            <a:tbl>
              <a:tblPr bandCol="1">
                <a:tableStyleId>{C4B1156A-380E-4F78-BDF5-A606A8083BF9}</a:tableStyleId>
              </a:tblPr>
              <a:tblGrid>
                <a:gridCol w="1701800"/>
                <a:gridCol w="1041400"/>
              </a:tblGrid>
              <a:tr h="46482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Promedio de </a:t>
                      </a:r>
                      <a:r>
                        <a:rPr lang="es-AR" sz="1400" b="1" u="none" strike="noStrike" dirty="0" smtClean="0">
                          <a:effectLst/>
                        </a:rPr>
                        <a:t>ocupación </a:t>
                      </a:r>
                      <a:r>
                        <a:rPr lang="es-AR" sz="1400" b="1" u="none" strike="noStrike" dirty="0">
                          <a:effectLst/>
                        </a:rPr>
                        <a:t>provincial </a:t>
                      </a:r>
                      <a:endParaRPr lang="es-AR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b="1" u="none" strike="noStrike" dirty="0">
                          <a:effectLst/>
                        </a:rPr>
                        <a:t>75%</a:t>
                      </a:r>
                      <a:endParaRPr lang="es-AR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sp>
        <p:nvSpPr>
          <p:cNvPr id="10" name="9 CuadroTexto"/>
          <p:cNvSpPr txBox="1"/>
          <p:nvPr/>
        </p:nvSpPr>
        <p:spPr>
          <a:xfrm>
            <a:off x="5004048" y="1844824"/>
            <a:ext cx="37444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Con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picos 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superiores al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90% durante los fin de semana,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600" b="1" dirty="0" err="1" smtClean="0">
                <a:solidFill>
                  <a:schemeClr val="accent5">
                    <a:lumMod val="75000"/>
                  </a:schemeClr>
                </a:solidFill>
              </a:rPr>
              <a:t>Tafi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 del Valle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se posiciono como la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localidad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con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mayor demanda en hoteles y </a:t>
            </a:r>
            <a:r>
              <a:rPr lang="es-ES" sz="1600" b="1" dirty="0" err="1" smtClean="0">
                <a:solidFill>
                  <a:schemeClr val="accent5">
                    <a:lumMod val="75000"/>
                  </a:schemeClr>
                </a:solidFill>
              </a:rPr>
              <a:t>parahoteleres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cerrando una temporada invernal con un promedio 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86%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(con un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incremento interanual de +4%), siguiendo San Miguel de Tucumán, Yerba Buena y San Javier con 78%,  88% y 53%.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s-ES" sz="1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Del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8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al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30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de julio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2023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la provincia registro un promedio de 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ocupación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75%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manteniéndose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sin variaciones significativas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 respecto a igual periodo 2023</a:t>
            </a:r>
          </a:p>
        </p:txBody>
      </p:sp>
    </p:spTree>
    <p:extLst>
      <p:ext uri="{BB962C8B-B14F-4D97-AF65-F5344CB8AC3E}">
        <p14:creationId xmlns:p14="http://schemas.microsoft.com/office/powerpoint/2010/main" val="110849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 fontScale="90000"/>
          </a:bodyPr>
          <a:lstStyle/>
          <a:p>
            <a:r>
              <a:rPr lang="es-ES" sz="3000" dirty="0" smtClean="0"/>
              <a:t>Pernoctaciones, turistas e impacto económico</a:t>
            </a:r>
            <a:br>
              <a:rPr lang="es-ES" sz="3000" dirty="0" smtClean="0"/>
            </a:br>
            <a:r>
              <a:rPr lang="es-ES" sz="3000" dirty="0" smtClean="0"/>
              <a:t>INVIERNO 2023</a:t>
            </a:r>
            <a:endParaRPr lang="es-AR" sz="30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015330"/>
              </p:ext>
            </p:extLst>
          </p:nvPr>
        </p:nvGraphicFramePr>
        <p:xfrm>
          <a:off x="539552" y="1556792"/>
          <a:ext cx="3960440" cy="357544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0443"/>
                <a:gridCol w="1899997"/>
              </a:tblGrid>
              <a:tr h="557842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 smtClean="0">
                          <a:effectLst/>
                        </a:rPr>
                        <a:t>Movimiento</a:t>
                      </a:r>
                      <a:r>
                        <a:rPr lang="es-AR" sz="1400" b="1" u="none" strike="noStrike" baseline="0" dirty="0" smtClean="0">
                          <a:effectLst/>
                        </a:rPr>
                        <a:t> </a:t>
                      </a:r>
                      <a:r>
                        <a:rPr lang="es-AR" sz="1400" b="1" u="none" strike="noStrike" dirty="0" smtClean="0">
                          <a:effectLst/>
                        </a:rPr>
                        <a:t>Turístico Invierno  2023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67129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>
                          <a:effectLst/>
                        </a:rPr>
                        <a:t>Pernoctaciones en hoteles y </a:t>
                      </a:r>
                      <a:r>
                        <a:rPr lang="es-ES" sz="1400" b="1" u="none" strike="noStrike" dirty="0" err="1">
                          <a:effectLst/>
                        </a:rPr>
                        <a:t>parahoteles</a:t>
                      </a:r>
                      <a:r>
                        <a:rPr lang="es-ES" sz="1400" b="1" u="none" strike="noStrike" dirty="0">
                          <a:effectLst/>
                        </a:rPr>
                        <a:t> 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effectLst/>
                        </a:rPr>
                        <a:t>                           162.296 </a:t>
                      </a:r>
                      <a:endParaRPr lang="es-A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7969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>
                          <a:effectLst/>
                        </a:rPr>
                        <a:t>Pernoctaciones en casa de Familia y amigos</a:t>
                      </a:r>
                      <a:endParaRPr lang="es-E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effectLst/>
                        </a:rPr>
                        <a:t>                           112.782 </a:t>
                      </a:r>
                      <a:endParaRPr lang="es-A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79697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>
                          <a:effectLst/>
                        </a:rPr>
                        <a:t>Pernoctaciones en establecimientos extrahoteleros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effectLst/>
                        </a:rPr>
                        <a:t>                             57.600 </a:t>
                      </a:r>
                      <a:endParaRPr lang="es-A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41255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 err="1" smtClean="0">
                          <a:effectLst/>
                        </a:rPr>
                        <a:t>Tolal</a:t>
                      </a:r>
                      <a:r>
                        <a:rPr lang="es-AR" sz="1400" b="1" u="none" strike="noStrike" dirty="0" smtClean="0">
                          <a:effectLst/>
                        </a:rPr>
                        <a:t> pernoctaciones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 smtClean="0">
                          <a:effectLst/>
                        </a:rPr>
                        <a:t>332.678 </a:t>
                      </a:r>
                      <a:endParaRPr lang="es-A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339793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 Cantidad de Turistas 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 smtClean="0">
                          <a:effectLst/>
                        </a:rPr>
                        <a:t>195.693 </a:t>
                      </a:r>
                      <a:endParaRPr lang="es-A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4677273" y="1628800"/>
            <a:ext cx="40711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El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movimiento de turistas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de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8 al 30 de julio 2023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 en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todas las modalidades de alojamientos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registro un incremento 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+13%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respecto a igual periodo 2022, estimando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333 mil pernoctaciones 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y </a:t>
            </a:r>
            <a:r>
              <a:rPr lang="es-ES" sz="1400" b="1" dirty="0" smtClean="0">
                <a:solidFill>
                  <a:schemeClr val="accent5">
                    <a:lumMod val="75000"/>
                  </a:schemeClr>
                </a:solidFill>
              </a:rPr>
              <a:t>196 mil turistas</a:t>
            </a:r>
            <a:r>
              <a:rPr lang="es-ES" sz="1400" dirty="0" smtClean="0">
                <a:solidFill>
                  <a:schemeClr val="accent5">
                    <a:lumMod val="75000"/>
                  </a:schemeClr>
                </a:solidFill>
              </a:rPr>
              <a:t>, esto fue debido principalmente al incremento de las plazas disponibles durante la temporada invernal, danto como resultado un balance turístico positivo para nuestra provincia.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36035" y="5358003"/>
            <a:ext cx="3717286" cy="8925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s-ES" sz="1600" dirty="0" smtClean="0">
                <a:solidFill>
                  <a:schemeClr val="accent2"/>
                </a:solidFill>
              </a:rPr>
              <a:t>Es importante destacar que se estimo un total de </a:t>
            </a:r>
            <a:r>
              <a:rPr lang="es-ES" b="1" dirty="0" smtClean="0">
                <a:solidFill>
                  <a:schemeClr val="accent2"/>
                </a:solidFill>
              </a:rPr>
              <a:t>111 mil excursionistas durante julio 2023.</a:t>
            </a:r>
            <a:endParaRPr lang="es-ES" b="1" dirty="0">
              <a:solidFill>
                <a:schemeClr val="accent2"/>
              </a:solidFill>
            </a:endParaRPr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73457"/>
              </p:ext>
            </p:extLst>
          </p:nvPr>
        </p:nvGraphicFramePr>
        <p:xfrm>
          <a:off x="5473175" y="4077072"/>
          <a:ext cx="2058764" cy="1381394"/>
        </p:xfrm>
        <a:graphic>
          <a:graphicData uri="http://schemas.openxmlformats.org/drawingml/2006/table">
            <a:tbl>
              <a:tblPr lastRow="1">
                <a:tableStyleId>{00A15C55-8517-42AA-B614-E9B94910E393}</a:tableStyleId>
              </a:tblPr>
              <a:tblGrid>
                <a:gridCol w="2058764"/>
              </a:tblGrid>
              <a:tr h="72670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1" u="none" strike="noStrike" dirty="0" smtClean="0">
                          <a:effectLst/>
                        </a:rPr>
                        <a:t>Impacto económico*</a:t>
                      </a:r>
                      <a:endParaRPr lang="es-AR" sz="18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  <a:tr h="65469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u="none" strike="noStrike" dirty="0" smtClean="0">
                          <a:effectLst/>
                        </a:rPr>
                        <a:t>$</a:t>
                      </a:r>
                      <a:r>
                        <a:rPr lang="es-AR" sz="2000" u="none" strike="noStrike" baseline="0" dirty="0" smtClean="0">
                          <a:effectLst/>
                        </a:rPr>
                        <a:t> </a:t>
                      </a:r>
                      <a:r>
                        <a:rPr lang="es-AR" sz="2000" u="none" strike="noStrike" dirty="0" smtClean="0">
                          <a:effectLst/>
                        </a:rPr>
                        <a:t>3.376.094.340 </a:t>
                      </a:r>
                      <a:endParaRPr lang="es-AR" sz="2000" b="1" i="0" u="none" strike="noStrike" dirty="0" smtClean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5075854" y="5598937"/>
            <a:ext cx="285300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200" b="1" dirty="0" smtClean="0">
                <a:solidFill>
                  <a:sysClr val="windowText" lastClr="000000"/>
                </a:solidFill>
              </a:rPr>
              <a:t>* Impacto económico generado por turistas alojados en todas las modalidades de alojamiento, </a:t>
            </a:r>
          </a:p>
        </p:txBody>
      </p:sp>
    </p:spTree>
    <p:extLst>
      <p:ext uri="{BB962C8B-B14F-4D97-AF65-F5344CB8AC3E}">
        <p14:creationId xmlns:p14="http://schemas.microsoft.com/office/powerpoint/2010/main" val="570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Perspectiva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E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enc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518</TotalTime>
  <Words>1318</Words>
  <Application>Microsoft Office PowerPoint</Application>
  <PresentationFormat>Presentación en pantalla (4:3)</PresentationFormat>
  <Paragraphs>108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Esencial</vt:lpstr>
      <vt:lpstr>Balance  Invierno  2023</vt:lpstr>
      <vt:lpstr>PERFIL DE LOS TURISTAS INVIERNO 2023</vt:lpstr>
      <vt:lpstr>PERFIL DE LOS TURISTAS INVIERNO 2023</vt:lpstr>
      <vt:lpstr>PERFIL DE LOS TURISTAS INVIERNO 2023</vt:lpstr>
      <vt:lpstr>PERFIL DE LOS TURISTAS INVIERNO 2023</vt:lpstr>
      <vt:lpstr>PERFIL DE LOS TURISTAS INVIERNO 2023</vt:lpstr>
      <vt:lpstr>PERFIL DE LOS TURISTAS INVIERNO 2023</vt:lpstr>
      <vt:lpstr>PERFIL DE LOS excursionistas  CIUDAD SAGRADA DE QUILMES INVIERNO 2023</vt:lpstr>
      <vt:lpstr>PERFIL DE LOS TURISTAS INVIERNO 2023</vt:lpstr>
      <vt:lpstr>Ocupacion hotelera y parahotelera INVIERNO 2023</vt:lpstr>
      <vt:lpstr>Pernoctaciones, turistas e impacto económico INVIERNO 2023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54</cp:revision>
  <dcterms:created xsi:type="dcterms:W3CDTF">2023-07-27T15:28:45Z</dcterms:created>
  <dcterms:modified xsi:type="dcterms:W3CDTF">2023-09-29T14:24:13Z</dcterms:modified>
</cp:coreProperties>
</file>